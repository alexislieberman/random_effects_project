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Nunito"/>
      <p:regular r:id="rId24"/>
      <p:bold r:id="rId25"/>
      <p:italic r:id="rId26"/>
      <p:boldItalic r:id="rId27"/>
    </p:embeddedFont>
    <p:embeddedFont>
      <p:font typeface="Comfortaa"/>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86EAA04-8E8B-40A3-A64D-C151AAD9F2A1}">
  <a:tblStyle styleId="{F86EAA04-8E8B-40A3-A64D-C151AAD9F2A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Nunito-regular.fntdata"/><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Nunito-italic.fntdata"/><Relationship Id="rId25" Type="http://schemas.openxmlformats.org/officeDocument/2006/relationships/font" Target="fonts/Nunito-bold.fntdata"/><Relationship Id="rId28" Type="http://schemas.openxmlformats.org/officeDocument/2006/relationships/font" Target="fonts/Comfortaa-regular.fntdata"/><Relationship Id="rId27" Type="http://schemas.openxmlformats.org/officeDocument/2006/relationships/font" Target="fonts/Nunito-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Comfortaa-bold.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Cameron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ad201a6db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ad201a6db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Cameron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d201a6db8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ad201a6db8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Cameron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ad201a6db8_2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ad201a6db8_2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alexis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af24f59a6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af24f59a6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alexis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ae8c9b457f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ae8c9b457f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alexis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ae8c9b457f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ae8c9b457f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alexis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aefee0319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aefee0319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alexis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ad201a6db8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ad201a6db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ad201a6db8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ad201a6db8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ad201a6db8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ad201a6db8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ad201a6db8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ad201a6db8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a608022b3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a608022b3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ad201a6db8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ad201a6db8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Cameron</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ad201a6db8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ad201a6db8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Cameron</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ad201a6db8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ad201a6db8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Cameron</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ad201a6db8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ad201a6db8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kaggle.com/datasets/emirhanai/social-media-usage-and-emotional-well-being?select=train.csv"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jpg"/><Relationship Id="rId4" Type="http://schemas.openxmlformats.org/officeDocument/2006/relationships/image" Target="../media/image1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Random Effects in </a:t>
            </a:r>
            <a:r>
              <a:rPr lang="en"/>
              <a:t>Social Media Usage</a:t>
            </a:r>
            <a:endParaRPr/>
          </a:p>
        </p:txBody>
      </p:sp>
      <p:sp>
        <p:nvSpPr>
          <p:cNvPr id="129" name="Google Shape;129;p13"/>
          <p:cNvSpPr txBox="1"/>
          <p:nvPr>
            <p:ph idx="1" type="subTitle"/>
          </p:nvPr>
        </p:nvSpPr>
        <p:spPr>
          <a:xfrm>
            <a:off x="1858700" y="3314875"/>
            <a:ext cx="5361300" cy="52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000"/>
              <a:t>Alexis, Alex, Cameron</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ctrTitle"/>
          </p:nvPr>
        </p:nvSpPr>
        <p:spPr>
          <a:xfrm>
            <a:off x="1858703" y="1254711"/>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500"/>
              <a:t>Objective</a:t>
            </a:r>
            <a:endParaRPr sz="4500"/>
          </a:p>
        </p:txBody>
      </p:sp>
      <p:sp>
        <p:nvSpPr>
          <p:cNvPr id="135" name="Google Shape;135;p14"/>
          <p:cNvSpPr txBox="1"/>
          <p:nvPr>
            <p:ph idx="1" type="subTitle"/>
          </p:nvPr>
        </p:nvSpPr>
        <p:spPr>
          <a:xfrm>
            <a:off x="1858700" y="2415499"/>
            <a:ext cx="5361300" cy="1343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000"/>
              <a:t>Creating a model that predicts</a:t>
            </a:r>
            <a:r>
              <a:rPr lang="en" sz="2000"/>
              <a:t> daily social media usage with the ultimate goal of determining what factors influence overall usage time.</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title"/>
          </p:nvPr>
        </p:nvSpPr>
        <p:spPr>
          <a:xfrm>
            <a:off x="382325" y="343250"/>
            <a:ext cx="7505700" cy="658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Data Overview</a:t>
            </a:r>
            <a:endParaRPr/>
          </a:p>
        </p:txBody>
      </p:sp>
      <p:sp>
        <p:nvSpPr>
          <p:cNvPr id="141" name="Google Shape;141;p15"/>
          <p:cNvSpPr txBox="1"/>
          <p:nvPr>
            <p:ph idx="1" type="body"/>
          </p:nvPr>
        </p:nvSpPr>
        <p:spPr>
          <a:xfrm>
            <a:off x="914700" y="2206200"/>
            <a:ext cx="7314600" cy="21972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200">
                <a:latin typeface="Nunito"/>
                <a:ea typeface="Nunito"/>
                <a:cs typeface="Nunito"/>
                <a:sym typeface="Nunito"/>
              </a:rPr>
              <a:t>A Few Variables:</a:t>
            </a:r>
            <a:endParaRPr b="1" sz="1200">
              <a:latin typeface="Nunito"/>
              <a:ea typeface="Nunito"/>
              <a:cs typeface="Nunito"/>
              <a:sym typeface="Nunito"/>
            </a:endParaRPr>
          </a:p>
          <a:p>
            <a:pPr indent="-304800" lvl="0" marL="457200" rtl="0" algn="l">
              <a:lnSpc>
                <a:spcPct val="150000"/>
              </a:lnSpc>
              <a:spcBef>
                <a:spcPts val="0"/>
              </a:spcBef>
              <a:spcAft>
                <a:spcPts val="0"/>
              </a:spcAft>
              <a:buSzPts val="1200"/>
              <a:buFont typeface="Nunito"/>
              <a:buChar char="➢"/>
            </a:pPr>
            <a:r>
              <a:rPr b="1" lang="en" sz="1200">
                <a:latin typeface="Nunito"/>
                <a:ea typeface="Nunito"/>
                <a:cs typeface="Nunito"/>
                <a:sym typeface="Nunito"/>
              </a:rPr>
              <a:t>Posts_Per_Day</a:t>
            </a:r>
            <a:r>
              <a:rPr lang="en" sz="1200">
                <a:latin typeface="Nunito"/>
                <a:ea typeface="Nunito"/>
                <a:cs typeface="Nunito"/>
                <a:sym typeface="Nunito"/>
              </a:rPr>
              <a:t>: Number of posts made per day.</a:t>
            </a:r>
            <a:endParaRPr sz="1200">
              <a:latin typeface="Nunito"/>
              <a:ea typeface="Nunito"/>
              <a:cs typeface="Nunito"/>
              <a:sym typeface="Nunito"/>
            </a:endParaRPr>
          </a:p>
          <a:p>
            <a:pPr indent="-304800" lvl="0" marL="457200" rtl="0" algn="l">
              <a:lnSpc>
                <a:spcPct val="150000"/>
              </a:lnSpc>
              <a:spcBef>
                <a:spcPts val="0"/>
              </a:spcBef>
              <a:spcAft>
                <a:spcPts val="0"/>
              </a:spcAft>
              <a:buSzPts val="1200"/>
              <a:buFont typeface="Nunito"/>
              <a:buChar char="➢"/>
            </a:pPr>
            <a:r>
              <a:rPr b="1" lang="en" sz="1200">
                <a:latin typeface="Nunito"/>
                <a:ea typeface="Nunito"/>
                <a:cs typeface="Nunito"/>
                <a:sym typeface="Nunito"/>
              </a:rPr>
              <a:t>Comments_Received_Per_Day</a:t>
            </a:r>
            <a:r>
              <a:rPr lang="en" sz="1200">
                <a:latin typeface="Nunito"/>
                <a:ea typeface="Nunito"/>
                <a:cs typeface="Nunito"/>
                <a:sym typeface="Nunito"/>
              </a:rPr>
              <a:t>: Number of comments received per day.</a:t>
            </a:r>
            <a:endParaRPr sz="1200">
              <a:latin typeface="Nunito"/>
              <a:ea typeface="Nunito"/>
              <a:cs typeface="Nunito"/>
              <a:sym typeface="Nunito"/>
            </a:endParaRPr>
          </a:p>
          <a:p>
            <a:pPr indent="-304800" lvl="0" marL="457200" rtl="0" algn="l">
              <a:lnSpc>
                <a:spcPct val="150000"/>
              </a:lnSpc>
              <a:spcBef>
                <a:spcPts val="0"/>
              </a:spcBef>
              <a:spcAft>
                <a:spcPts val="0"/>
              </a:spcAft>
              <a:buSzPts val="1200"/>
              <a:buFont typeface="Nunito"/>
              <a:buChar char="➢"/>
            </a:pPr>
            <a:r>
              <a:rPr b="1" lang="en" sz="1200">
                <a:latin typeface="Nunito"/>
                <a:ea typeface="Nunito"/>
                <a:cs typeface="Nunito"/>
                <a:sym typeface="Nunito"/>
              </a:rPr>
              <a:t>Dominant_Emotion</a:t>
            </a:r>
            <a:r>
              <a:rPr lang="en" sz="1200">
                <a:latin typeface="Nunito"/>
                <a:ea typeface="Nunito"/>
                <a:cs typeface="Nunito"/>
                <a:sym typeface="Nunito"/>
              </a:rPr>
              <a:t>: The dominant emotional state of the user during the day (e.g., Happiness, Sadness, Anger, Anxiety, Boredom, Neutral).</a:t>
            </a:r>
            <a:endParaRPr sz="1200">
              <a:latin typeface="Nunito"/>
              <a:ea typeface="Nunito"/>
              <a:cs typeface="Nunito"/>
              <a:sym typeface="Nunito"/>
            </a:endParaRPr>
          </a:p>
          <a:p>
            <a:pPr indent="-304800" lvl="0" marL="457200" rtl="0" algn="l">
              <a:lnSpc>
                <a:spcPct val="150000"/>
              </a:lnSpc>
              <a:spcBef>
                <a:spcPts val="0"/>
              </a:spcBef>
              <a:spcAft>
                <a:spcPts val="0"/>
              </a:spcAft>
              <a:buSzPts val="1200"/>
              <a:buFont typeface="Nunito"/>
              <a:buChar char="➢"/>
            </a:pPr>
            <a:r>
              <a:rPr b="1" lang="en" sz="1200">
                <a:latin typeface="Nunito"/>
                <a:ea typeface="Nunito"/>
                <a:cs typeface="Nunito"/>
                <a:sym typeface="Nunito"/>
              </a:rPr>
              <a:t>Daily_Usage_Minutes</a:t>
            </a:r>
            <a:r>
              <a:rPr lang="en" sz="1200">
                <a:latin typeface="Nunito"/>
                <a:ea typeface="Nunito"/>
                <a:cs typeface="Nunito"/>
                <a:sym typeface="Nunito"/>
              </a:rPr>
              <a:t>: Total minutes spent daily on the specified platform.</a:t>
            </a:r>
            <a:endParaRPr sz="1200">
              <a:latin typeface="Nunito"/>
              <a:ea typeface="Nunito"/>
              <a:cs typeface="Nunito"/>
              <a:sym typeface="Nunito"/>
            </a:endParaRPr>
          </a:p>
          <a:p>
            <a:pPr indent="-304800" lvl="0" marL="457200" rtl="0" algn="l">
              <a:lnSpc>
                <a:spcPct val="150000"/>
              </a:lnSpc>
              <a:spcBef>
                <a:spcPts val="0"/>
              </a:spcBef>
              <a:spcAft>
                <a:spcPts val="0"/>
              </a:spcAft>
              <a:buSzPts val="1200"/>
              <a:buFont typeface="Nunito"/>
              <a:buChar char="➢"/>
            </a:pPr>
            <a:r>
              <a:rPr b="1" lang="en" sz="1200">
                <a:latin typeface="Nunito"/>
                <a:ea typeface="Nunito"/>
                <a:cs typeface="Nunito"/>
                <a:sym typeface="Nunito"/>
              </a:rPr>
              <a:t>Platform</a:t>
            </a:r>
            <a:r>
              <a:rPr lang="en" sz="1200">
                <a:latin typeface="Nunito"/>
                <a:ea typeface="Nunito"/>
                <a:cs typeface="Nunito"/>
                <a:sym typeface="Nunito"/>
              </a:rPr>
              <a:t>: The social media platform used by the user (e.g., Instagram, Twitter, Facebook, LinkedIn, Snapchat, Whatsapp, Telegram).</a:t>
            </a:r>
            <a:endParaRPr sz="1200">
              <a:latin typeface="Nunito"/>
              <a:ea typeface="Nunito"/>
              <a:cs typeface="Nunito"/>
              <a:sym typeface="Nunito"/>
            </a:endParaRPr>
          </a:p>
          <a:p>
            <a:pPr indent="0" lvl="0" marL="0" rtl="0" algn="l">
              <a:lnSpc>
                <a:spcPct val="150000"/>
              </a:lnSpc>
              <a:spcBef>
                <a:spcPts val="0"/>
              </a:spcBef>
              <a:spcAft>
                <a:spcPts val="0"/>
              </a:spcAft>
              <a:buNone/>
            </a:pPr>
            <a:r>
              <a:t/>
            </a:r>
            <a:endParaRPr sz="1200">
              <a:latin typeface="Nunito"/>
              <a:ea typeface="Nunito"/>
              <a:cs typeface="Nunito"/>
              <a:sym typeface="Nunito"/>
            </a:endParaRPr>
          </a:p>
          <a:p>
            <a:pPr indent="0" lvl="0" marL="0" rtl="0" algn="l">
              <a:lnSpc>
                <a:spcPct val="150000"/>
              </a:lnSpc>
              <a:spcBef>
                <a:spcPts val="0"/>
              </a:spcBef>
              <a:spcAft>
                <a:spcPts val="0"/>
              </a:spcAft>
              <a:buNone/>
            </a:pPr>
            <a:r>
              <a:t/>
            </a:r>
            <a:endParaRPr sz="1200">
              <a:latin typeface="Nunito"/>
              <a:ea typeface="Nunito"/>
              <a:cs typeface="Nunito"/>
              <a:sym typeface="Nunito"/>
            </a:endParaRPr>
          </a:p>
        </p:txBody>
      </p:sp>
      <p:sp>
        <p:nvSpPr>
          <p:cNvPr id="142" name="Google Shape;142;p15"/>
          <p:cNvSpPr txBox="1"/>
          <p:nvPr/>
        </p:nvSpPr>
        <p:spPr>
          <a:xfrm>
            <a:off x="239925" y="4612750"/>
            <a:ext cx="7505700" cy="18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u="sng">
                <a:solidFill>
                  <a:schemeClr val="hlink"/>
                </a:solidFill>
                <a:latin typeface="Calibri"/>
                <a:ea typeface="Calibri"/>
                <a:cs typeface="Calibri"/>
                <a:sym typeface="Calibri"/>
                <a:hlinkClick r:id="rId3"/>
              </a:rPr>
              <a:t>https://www.kaggle.com/datasets/emirhanai/social-media-usage-and-emotional-well-being?select=train.csv</a:t>
            </a:r>
            <a:r>
              <a:rPr lang="en" sz="1000">
                <a:solidFill>
                  <a:schemeClr val="dk2"/>
                </a:solidFill>
                <a:latin typeface="Calibri"/>
                <a:ea typeface="Calibri"/>
                <a:cs typeface="Calibri"/>
                <a:sym typeface="Calibri"/>
              </a:rPr>
              <a:t> </a:t>
            </a:r>
            <a:endParaRPr sz="1000">
              <a:solidFill>
                <a:schemeClr val="dk2"/>
              </a:solidFill>
              <a:latin typeface="Calibri"/>
              <a:ea typeface="Calibri"/>
              <a:cs typeface="Calibri"/>
              <a:sym typeface="Calibri"/>
            </a:endParaRPr>
          </a:p>
        </p:txBody>
      </p:sp>
      <p:sp>
        <p:nvSpPr>
          <p:cNvPr id="143" name="Google Shape;143;p15"/>
          <p:cNvSpPr txBox="1"/>
          <p:nvPr/>
        </p:nvSpPr>
        <p:spPr>
          <a:xfrm>
            <a:off x="382325" y="1002050"/>
            <a:ext cx="7505700" cy="9948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lang="en" sz="1500">
                <a:solidFill>
                  <a:schemeClr val="dk2"/>
                </a:solidFill>
                <a:latin typeface="Calibri"/>
                <a:ea typeface="Calibri"/>
                <a:cs typeface="Calibri"/>
                <a:sym typeface="Calibri"/>
              </a:rPr>
              <a:t>A multimodal dataset designed to analyze patterns in social media behavior. Includes 10 variables capturing demographic factors, platform activity, engagement metrics, and emotional context to better understand predictors of daily social media usage.</a:t>
            </a:r>
            <a:endParaRPr sz="1500">
              <a:solidFill>
                <a:schemeClr val="dk2"/>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6"/>
          <p:cNvSpPr txBox="1"/>
          <p:nvPr>
            <p:ph type="title"/>
          </p:nvPr>
        </p:nvSpPr>
        <p:spPr>
          <a:xfrm>
            <a:off x="218500" y="1903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 Exploration</a:t>
            </a:r>
            <a:endParaRPr/>
          </a:p>
        </p:txBody>
      </p:sp>
      <p:pic>
        <p:nvPicPr>
          <p:cNvPr id="149" name="Google Shape;149;p16"/>
          <p:cNvPicPr preferRelativeResize="0"/>
          <p:nvPr/>
        </p:nvPicPr>
        <p:blipFill>
          <a:blip r:embed="rId3">
            <a:alphaModFix/>
          </a:blip>
          <a:stretch>
            <a:fillRect/>
          </a:stretch>
        </p:blipFill>
        <p:spPr>
          <a:xfrm>
            <a:off x="4703025" y="2374738"/>
            <a:ext cx="3656026" cy="2374725"/>
          </a:xfrm>
          <a:prstGeom prst="rect">
            <a:avLst/>
          </a:prstGeom>
          <a:noFill/>
          <a:ln>
            <a:noFill/>
          </a:ln>
        </p:spPr>
      </p:pic>
      <p:pic>
        <p:nvPicPr>
          <p:cNvPr id="150" name="Google Shape;150;p16"/>
          <p:cNvPicPr preferRelativeResize="0"/>
          <p:nvPr/>
        </p:nvPicPr>
        <p:blipFill>
          <a:blip r:embed="rId4">
            <a:alphaModFix/>
          </a:blip>
          <a:stretch>
            <a:fillRect/>
          </a:stretch>
        </p:blipFill>
        <p:spPr>
          <a:xfrm>
            <a:off x="3452961" y="224537"/>
            <a:ext cx="3439325" cy="2150225"/>
          </a:xfrm>
          <a:prstGeom prst="rect">
            <a:avLst/>
          </a:prstGeom>
          <a:noFill/>
          <a:ln>
            <a:noFill/>
          </a:ln>
        </p:spPr>
      </p:pic>
      <p:pic>
        <p:nvPicPr>
          <p:cNvPr id="151" name="Google Shape;151;p16"/>
          <p:cNvPicPr preferRelativeResize="0"/>
          <p:nvPr/>
        </p:nvPicPr>
        <p:blipFill>
          <a:blip r:embed="rId5">
            <a:alphaModFix/>
          </a:blip>
          <a:stretch>
            <a:fillRect/>
          </a:stretch>
        </p:blipFill>
        <p:spPr>
          <a:xfrm>
            <a:off x="591325" y="2374750"/>
            <a:ext cx="3798432" cy="23747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17"/>
          <p:cNvPicPr preferRelativeResize="0"/>
          <p:nvPr/>
        </p:nvPicPr>
        <p:blipFill>
          <a:blip r:embed="rId3">
            <a:alphaModFix/>
          </a:blip>
          <a:stretch>
            <a:fillRect/>
          </a:stretch>
        </p:blipFill>
        <p:spPr>
          <a:xfrm>
            <a:off x="1168862" y="361275"/>
            <a:ext cx="6806275" cy="44209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8"/>
          <p:cNvSpPr txBox="1"/>
          <p:nvPr>
            <p:ph type="title"/>
          </p:nvPr>
        </p:nvSpPr>
        <p:spPr>
          <a:xfrm>
            <a:off x="404325" y="276225"/>
            <a:ext cx="4356300" cy="89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Final Model</a:t>
            </a:r>
            <a:endParaRPr/>
          </a:p>
        </p:txBody>
      </p:sp>
      <p:sp>
        <p:nvSpPr>
          <p:cNvPr id="162" name="Google Shape;162;p18"/>
          <p:cNvSpPr txBox="1"/>
          <p:nvPr>
            <p:ph idx="1" type="body"/>
          </p:nvPr>
        </p:nvSpPr>
        <p:spPr>
          <a:xfrm>
            <a:off x="404325" y="894875"/>
            <a:ext cx="5430600" cy="5259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lang="en" sz="1600">
                <a:latin typeface="Nunito"/>
                <a:ea typeface="Nunito"/>
                <a:cs typeface="Nunito"/>
                <a:sym typeface="Nunito"/>
              </a:rPr>
              <a:t>Y = ꞵ</a:t>
            </a:r>
            <a:r>
              <a:rPr baseline="-25000" lang="en" sz="1600">
                <a:latin typeface="Nunito"/>
                <a:ea typeface="Nunito"/>
                <a:cs typeface="Nunito"/>
                <a:sym typeface="Nunito"/>
              </a:rPr>
              <a:t>0</a:t>
            </a:r>
            <a:r>
              <a:rPr lang="en" sz="1600">
                <a:latin typeface="Nunito"/>
                <a:ea typeface="Nunito"/>
                <a:cs typeface="Nunito"/>
                <a:sym typeface="Nunito"/>
              </a:rPr>
              <a:t> + ꞵ</a:t>
            </a:r>
            <a:r>
              <a:rPr baseline="-25000" lang="en" sz="1600">
                <a:latin typeface="Nunito"/>
                <a:ea typeface="Nunito"/>
                <a:cs typeface="Nunito"/>
                <a:sym typeface="Nunito"/>
              </a:rPr>
              <a:t>1</a:t>
            </a:r>
            <a:r>
              <a:rPr lang="en" sz="1600">
                <a:latin typeface="Nunito"/>
                <a:ea typeface="Nunito"/>
                <a:cs typeface="Nunito"/>
                <a:sym typeface="Nunito"/>
              </a:rPr>
              <a:t>x</a:t>
            </a:r>
            <a:r>
              <a:rPr baseline="-25000" lang="en" sz="1600">
                <a:latin typeface="Nunito"/>
                <a:ea typeface="Nunito"/>
                <a:cs typeface="Nunito"/>
                <a:sym typeface="Nunito"/>
              </a:rPr>
              <a:t>1 </a:t>
            </a:r>
            <a:r>
              <a:rPr lang="en" sz="1600">
                <a:latin typeface="Nunito"/>
                <a:ea typeface="Nunito"/>
                <a:cs typeface="Nunito"/>
                <a:sym typeface="Nunito"/>
              </a:rPr>
              <a:t>+ ꞵ</a:t>
            </a:r>
            <a:r>
              <a:rPr baseline="-25000" lang="en" sz="1600">
                <a:latin typeface="Nunito"/>
                <a:ea typeface="Nunito"/>
                <a:cs typeface="Nunito"/>
                <a:sym typeface="Nunito"/>
              </a:rPr>
              <a:t>2</a:t>
            </a:r>
            <a:r>
              <a:rPr lang="en" sz="1600">
                <a:latin typeface="Nunito"/>
                <a:ea typeface="Nunito"/>
                <a:cs typeface="Nunito"/>
                <a:sym typeface="Nunito"/>
              </a:rPr>
              <a:t>x</a:t>
            </a:r>
            <a:r>
              <a:rPr baseline="-25000" lang="en" sz="1600">
                <a:latin typeface="Nunito"/>
                <a:ea typeface="Nunito"/>
                <a:cs typeface="Nunito"/>
                <a:sym typeface="Nunito"/>
              </a:rPr>
              <a:t>2 </a:t>
            </a:r>
            <a:r>
              <a:rPr lang="en" sz="1600">
                <a:latin typeface="Nunito"/>
                <a:ea typeface="Nunito"/>
                <a:cs typeface="Nunito"/>
                <a:sym typeface="Nunito"/>
              </a:rPr>
              <a:t>+ ꞵ</a:t>
            </a:r>
            <a:r>
              <a:rPr baseline="-25000" lang="en" sz="1600">
                <a:latin typeface="Nunito"/>
                <a:ea typeface="Nunito"/>
                <a:cs typeface="Nunito"/>
                <a:sym typeface="Nunito"/>
              </a:rPr>
              <a:t>3</a:t>
            </a:r>
            <a:r>
              <a:rPr lang="en" sz="1600">
                <a:latin typeface="Nunito"/>
                <a:ea typeface="Nunito"/>
                <a:cs typeface="Nunito"/>
                <a:sym typeface="Nunito"/>
              </a:rPr>
              <a:t>x</a:t>
            </a:r>
            <a:r>
              <a:rPr baseline="-25000" lang="en" sz="1600">
                <a:latin typeface="Nunito"/>
                <a:ea typeface="Nunito"/>
                <a:cs typeface="Nunito"/>
                <a:sym typeface="Nunito"/>
              </a:rPr>
              <a:t>3 </a:t>
            </a:r>
            <a:r>
              <a:rPr lang="en" sz="1600">
                <a:latin typeface="Nunito"/>
                <a:ea typeface="Nunito"/>
                <a:cs typeface="Nunito"/>
                <a:sym typeface="Nunito"/>
              </a:rPr>
              <a:t>+ ꞵ</a:t>
            </a:r>
            <a:r>
              <a:rPr baseline="-25000" lang="en" sz="1600">
                <a:latin typeface="Nunito"/>
                <a:ea typeface="Nunito"/>
                <a:cs typeface="Nunito"/>
                <a:sym typeface="Nunito"/>
              </a:rPr>
              <a:t>4</a:t>
            </a:r>
            <a:r>
              <a:rPr lang="en" sz="1600">
                <a:latin typeface="Nunito"/>
                <a:ea typeface="Nunito"/>
                <a:cs typeface="Nunito"/>
                <a:sym typeface="Nunito"/>
              </a:rPr>
              <a:t>x</a:t>
            </a:r>
            <a:r>
              <a:rPr baseline="-25000" lang="en" sz="1600">
                <a:latin typeface="Nunito"/>
                <a:ea typeface="Nunito"/>
                <a:cs typeface="Nunito"/>
                <a:sym typeface="Nunito"/>
              </a:rPr>
              <a:t>4 </a:t>
            </a:r>
            <a:r>
              <a:rPr lang="en" sz="1600">
                <a:latin typeface="Nunito"/>
                <a:ea typeface="Nunito"/>
                <a:cs typeface="Nunito"/>
                <a:sym typeface="Nunito"/>
              </a:rPr>
              <a:t>+ ꞵ</a:t>
            </a:r>
            <a:r>
              <a:rPr baseline="-25000" lang="en" sz="1600">
                <a:latin typeface="Nunito"/>
                <a:ea typeface="Nunito"/>
                <a:cs typeface="Nunito"/>
                <a:sym typeface="Nunito"/>
              </a:rPr>
              <a:t>5</a:t>
            </a:r>
            <a:r>
              <a:rPr lang="en" sz="1600">
                <a:latin typeface="Nunito"/>
                <a:ea typeface="Nunito"/>
                <a:cs typeface="Nunito"/>
                <a:sym typeface="Nunito"/>
              </a:rPr>
              <a:t>x</a:t>
            </a:r>
            <a:r>
              <a:rPr baseline="-25000" lang="en" sz="1600">
                <a:latin typeface="Nunito"/>
                <a:ea typeface="Nunito"/>
                <a:cs typeface="Nunito"/>
                <a:sym typeface="Nunito"/>
              </a:rPr>
              <a:t>5 </a:t>
            </a:r>
            <a:r>
              <a:rPr lang="en" sz="1600">
                <a:latin typeface="Nunito"/>
                <a:ea typeface="Nunito"/>
                <a:cs typeface="Nunito"/>
                <a:sym typeface="Nunito"/>
              </a:rPr>
              <a:t>+ ɑ</a:t>
            </a:r>
            <a:r>
              <a:rPr baseline="-25000" lang="en" sz="1600">
                <a:latin typeface="Nunito"/>
                <a:ea typeface="Nunito"/>
                <a:cs typeface="Nunito"/>
                <a:sym typeface="Nunito"/>
              </a:rPr>
              <a:t>1</a:t>
            </a:r>
            <a:r>
              <a:rPr lang="en" sz="1600">
                <a:latin typeface="Nunito"/>
                <a:ea typeface="Nunito"/>
                <a:cs typeface="Nunito"/>
                <a:sym typeface="Nunito"/>
              </a:rPr>
              <a:t>x</a:t>
            </a:r>
            <a:r>
              <a:rPr baseline="-25000" lang="en" sz="1600">
                <a:latin typeface="Nunito"/>
                <a:ea typeface="Nunito"/>
                <a:cs typeface="Nunito"/>
                <a:sym typeface="Nunito"/>
              </a:rPr>
              <a:t>1 </a:t>
            </a:r>
            <a:r>
              <a:rPr lang="en" sz="1600">
                <a:latin typeface="Nunito"/>
                <a:ea typeface="Nunito"/>
                <a:cs typeface="Nunito"/>
                <a:sym typeface="Nunito"/>
              </a:rPr>
              <a:t>+ ɑ</a:t>
            </a:r>
            <a:r>
              <a:rPr baseline="-25000" lang="en" sz="1600">
                <a:latin typeface="Nunito"/>
                <a:ea typeface="Nunito"/>
                <a:cs typeface="Nunito"/>
                <a:sym typeface="Nunito"/>
              </a:rPr>
              <a:t>2</a:t>
            </a:r>
            <a:r>
              <a:rPr lang="en" sz="1600">
                <a:latin typeface="Nunito"/>
                <a:ea typeface="Nunito"/>
                <a:cs typeface="Nunito"/>
                <a:sym typeface="Nunito"/>
              </a:rPr>
              <a:t>x</a:t>
            </a:r>
            <a:r>
              <a:rPr baseline="-25000" lang="en" sz="1600">
                <a:latin typeface="Nunito"/>
                <a:ea typeface="Nunito"/>
                <a:cs typeface="Nunito"/>
                <a:sym typeface="Nunito"/>
              </a:rPr>
              <a:t>2 </a:t>
            </a:r>
            <a:r>
              <a:rPr lang="en" sz="1600">
                <a:latin typeface="Nunito"/>
                <a:ea typeface="Nunito"/>
                <a:cs typeface="Nunito"/>
                <a:sym typeface="Nunito"/>
              </a:rPr>
              <a:t>+ ε</a:t>
            </a:r>
            <a:endParaRPr sz="1600">
              <a:latin typeface="Nunito"/>
              <a:ea typeface="Nunito"/>
              <a:cs typeface="Nunito"/>
              <a:sym typeface="Nunito"/>
            </a:endParaRPr>
          </a:p>
          <a:p>
            <a:pPr indent="0" lvl="0" marL="0" rtl="0" algn="l">
              <a:lnSpc>
                <a:spcPct val="200000"/>
              </a:lnSpc>
              <a:spcBef>
                <a:spcPts val="1200"/>
              </a:spcBef>
              <a:spcAft>
                <a:spcPts val="1200"/>
              </a:spcAft>
              <a:buNone/>
            </a:pPr>
            <a:r>
              <a:t/>
            </a:r>
            <a:endParaRPr sz="1600">
              <a:latin typeface="Nunito"/>
              <a:ea typeface="Nunito"/>
              <a:cs typeface="Nunito"/>
              <a:sym typeface="Nunito"/>
            </a:endParaRPr>
          </a:p>
        </p:txBody>
      </p:sp>
      <p:grpSp>
        <p:nvGrpSpPr>
          <p:cNvPr id="163" name="Google Shape;163;p18"/>
          <p:cNvGrpSpPr/>
          <p:nvPr/>
        </p:nvGrpSpPr>
        <p:grpSpPr>
          <a:xfrm>
            <a:off x="5920894" y="2601508"/>
            <a:ext cx="2503615" cy="2167575"/>
            <a:chOff x="2506580" y="3608783"/>
            <a:chExt cx="1553400" cy="1344900"/>
          </a:xfrm>
        </p:grpSpPr>
        <p:sp>
          <p:nvSpPr>
            <p:cNvPr id="164" name="Google Shape;164;p18"/>
            <p:cNvSpPr txBox="1"/>
            <p:nvPr/>
          </p:nvSpPr>
          <p:spPr>
            <a:xfrm>
              <a:off x="2506580" y="3608783"/>
              <a:ext cx="1553400" cy="1344900"/>
            </a:xfrm>
            <a:prstGeom prst="rect">
              <a:avLst/>
            </a:prstGeom>
            <a:noFill/>
            <a:ln cap="flat" cmpd="sng" w="9525">
              <a:solidFill>
                <a:srgbClr val="000000"/>
              </a:solidFill>
              <a:prstDash val="solid"/>
              <a:round/>
              <a:headEnd len="sm" w="sm" type="none"/>
              <a:tailEnd len="sm" w="sm" type="none"/>
            </a:ln>
          </p:spPr>
          <p:txBody>
            <a:bodyPr anchorCtr="0" anchor="t" bIns="147350" lIns="147350" spcFirstLastPara="1" rIns="147350" wrap="square" tIns="147350">
              <a:noAutofit/>
            </a:bodyPr>
            <a:lstStyle/>
            <a:p>
              <a:pPr indent="0" lvl="0" marL="0" rtl="0" algn="ctr">
                <a:lnSpc>
                  <a:spcPct val="100000"/>
                </a:lnSpc>
                <a:spcBef>
                  <a:spcPts val="0"/>
                </a:spcBef>
                <a:spcAft>
                  <a:spcPts val="0"/>
                </a:spcAft>
                <a:buNone/>
              </a:pPr>
              <a:r>
                <a:rPr b="1" lang="en" sz="1612">
                  <a:solidFill>
                    <a:schemeClr val="dk2"/>
                  </a:solidFill>
                  <a:latin typeface="Calibri"/>
                  <a:ea typeface="Calibri"/>
                  <a:cs typeface="Calibri"/>
                  <a:sym typeface="Calibri"/>
                </a:rPr>
                <a:t>Dominant Emotion </a:t>
              </a:r>
              <a:endParaRPr b="1" sz="1612">
                <a:solidFill>
                  <a:schemeClr val="dk2"/>
                </a:solidFill>
                <a:latin typeface="Calibri"/>
                <a:ea typeface="Calibri"/>
                <a:cs typeface="Calibri"/>
                <a:sym typeface="Calibri"/>
              </a:endParaRPr>
            </a:p>
            <a:p>
              <a:pPr indent="0" lvl="0" marL="0" rtl="0" algn="ctr">
                <a:lnSpc>
                  <a:spcPct val="100000"/>
                </a:lnSpc>
                <a:spcBef>
                  <a:spcPts val="0"/>
                </a:spcBef>
                <a:spcAft>
                  <a:spcPts val="0"/>
                </a:spcAft>
                <a:buNone/>
              </a:pPr>
              <a:r>
                <a:rPr b="1" lang="en" sz="1612">
                  <a:solidFill>
                    <a:schemeClr val="dk2"/>
                  </a:solidFill>
                  <a:latin typeface="Calibri"/>
                  <a:ea typeface="Calibri"/>
                  <a:cs typeface="Calibri"/>
                  <a:sym typeface="Calibri"/>
                </a:rPr>
                <a:t>Random Effect Estimates</a:t>
              </a:r>
              <a:endParaRPr b="1" sz="1612">
                <a:solidFill>
                  <a:schemeClr val="dk2"/>
                </a:solidFill>
                <a:latin typeface="Calibri"/>
                <a:ea typeface="Calibri"/>
                <a:cs typeface="Calibri"/>
                <a:sym typeface="Calibri"/>
              </a:endParaRPr>
            </a:p>
          </p:txBody>
        </p:sp>
        <p:pic>
          <p:nvPicPr>
            <p:cNvPr id="165" name="Google Shape;165;p18"/>
            <p:cNvPicPr preferRelativeResize="0"/>
            <p:nvPr/>
          </p:nvPicPr>
          <p:blipFill rotWithShape="1">
            <a:blip r:embed="rId3">
              <a:alphaModFix/>
            </a:blip>
            <a:srcRect b="47495" l="0" r="71806" t="13057"/>
            <a:stretch/>
          </p:blipFill>
          <p:spPr>
            <a:xfrm>
              <a:off x="2662872" y="4147219"/>
              <a:ext cx="1240800" cy="671375"/>
            </a:xfrm>
            <a:prstGeom prst="rect">
              <a:avLst/>
            </a:prstGeom>
            <a:noFill/>
            <a:ln>
              <a:noFill/>
            </a:ln>
          </p:spPr>
        </p:pic>
      </p:grpSp>
      <p:grpSp>
        <p:nvGrpSpPr>
          <p:cNvPr id="166" name="Google Shape;166;p18"/>
          <p:cNvGrpSpPr/>
          <p:nvPr/>
        </p:nvGrpSpPr>
        <p:grpSpPr>
          <a:xfrm>
            <a:off x="5920889" y="296061"/>
            <a:ext cx="2503615" cy="2167575"/>
            <a:chOff x="2362230" y="3143550"/>
            <a:chExt cx="1553400" cy="1344900"/>
          </a:xfrm>
        </p:grpSpPr>
        <p:sp>
          <p:nvSpPr>
            <p:cNvPr id="167" name="Google Shape;167;p18"/>
            <p:cNvSpPr txBox="1"/>
            <p:nvPr/>
          </p:nvSpPr>
          <p:spPr>
            <a:xfrm>
              <a:off x="2362230" y="3143550"/>
              <a:ext cx="1553400" cy="1344900"/>
            </a:xfrm>
            <a:prstGeom prst="rect">
              <a:avLst/>
            </a:prstGeom>
            <a:noFill/>
            <a:ln cap="flat" cmpd="sng" w="9525">
              <a:solidFill>
                <a:srgbClr val="000000"/>
              </a:solidFill>
              <a:prstDash val="solid"/>
              <a:round/>
              <a:headEnd len="sm" w="sm" type="none"/>
              <a:tailEnd len="sm" w="sm" type="none"/>
            </a:ln>
          </p:spPr>
          <p:txBody>
            <a:bodyPr anchorCtr="0" anchor="t" bIns="147350" lIns="147350" spcFirstLastPara="1" rIns="147350" wrap="square" tIns="147350">
              <a:noAutofit/>
            </a:bodyPr>
            <a:lstStyle/>
            <a:p>
              <a:pPr indent="0" lvl="0" marL="0" rtl="0" algn="ctr">
                <a:lnSpc>
                  <a:spcPct val="100000"/>
                </a:lnSpc>
                <a:spcBef>
                  <a:spcPts val="0"/>
                </a:spcBef>
                <a:spcAft>
                  <a:spcPts val="0"/>
                </a:spcAft>
                <a:buNone/>
              </a:pPr>
              <a:r>
                <a:rPr b="1" lang="en" sz="1612">
                  <a:solidFill>
                    <a:schemeClr val="dk2"/>
                  </a:solidFill>
                  <a:latin typeface="Calibri"/>
                  <a:ea typeface="Calibri"/>
                  <a:cs typeface="Calibri"/>
                  <a:sym typeface="Calibri"/>
                </a:rPr>
                <a:t>Platform </a:t>
              </a:r>
              <a:endParaRPr b="1" sz="1612">
                <a:solidFill>
                  <a:schemeClr val="dk2"/>
                </a:solidFill>
                <a:latin typeface="Calibri"/>
                <a:ea typeface="Calibri"/>
                <a:cs typeface="Calibri"/>
                <a:sym typeface="Calibri"/>
              </a:endParaRPr>
            </a:p>
            <a:p>
              <a:pPr indent="0" lvl="0" marL="0" rtl="0" algn="ctr">
                <a:lnSpc>
                  <a:spcPct val="100000"/>
                </a:lnSpc>
                <a:spcBef>
                  <a:spcPts val="0"/>
                </a:spcBef>
                <a:spcAft>
                  <a:spcPts val="0"/>
                </a:spcAft>
                <a:buNone/>
              </a:pPr>
              <a:r>
                <a:rPr b="1" lang="en" sz="1612">
                  <a:solidFill>
                    <a:schemeClr val="dk2"/>
                  </a:solidFill>
                  <a:latin typeface="Calibri"/>
                  <a:ea typeface="Calibri"/>
                  <a:cs typeface="Calibri"/>
                  <a:sym typeface="Calibri"/>
                </a:rPr>
                <a:t>Random Effect Estimates</a:t>
              </a:r>
              <a:endParaRPr b="1" sz="1612">
                <a:solidFill>
                  <a:schemeClr val="dk2"/>
                </a:solidFill>
                <a:latin typeface="Calibri"/>
                <a:ea typeface="Calibri"/>
                <a:cs typeface="Calibri"/>
                <a:sym typeface="Calibri"/>
              </a:endParaRPr>
            </a:p>
          </p:txBody>
        </p:sp>
        <p:pic>
          <p:nvPicPr>
            <p:cNvPr id="168" name="Google Shape;168;p18"/>
            <p:cNvPicPr preferRelativeResize="0"/>
            <p:nvPr/>
          </p:nvPicPr>
          <p:blipFill rotWithShape="1">
            <a:blip r:embed="rId4">
              <a:alphaModFix/>
            </a:blip>
            <a:srcRect b="46937" l="0" r="71087" t="12274"/>
            <a:stretch/>
          </p:blipFill>
          <p:spPr>
            <a:xfrm>
              <a:off x="2482930" y="3615250"/>
              <a:ext cx="1240801" cy="771075"/>
            </a:xfrm>
            <a:prstGeom prst="rect">
              <a:avLst/>
            </a:prstGeom>
            <a:noFill/>
            <a:ln>
              <a:noFill/>
            </a:ln>
          </p:spPr>
        </p:pic>
      </p:grpSp>
      <p:graphicFrame>
        <p:nvGraphicFramePr>
          <p:cNvPr id="169" name="Google Shape;169;p18"/>
          <p:cNvGraphicFramePr/>
          <p:nvPr/>
        </p:nvGraphicFramePr>
        <p:xfrm>
          <a:off x="727682" y="1570303"/>
          <a:ext cx="3000000" cy="3000000"/>
        </p:xfrm>
        <a:graphic>
          <a:graphicData uri="http://schemas.openxmlformats.org/drawingml/2006/table">
            <a:tbl>
              <a:tblPr>
                <a:noFill/>
                <a:tableStyleId>{F86EAA04-8E8B-40A3-A64D-C151AAD9F2A1}</a:tableStyleId>
              </a:tblPr>
              <a:tblGrid>
                <a:gridCol w="3253550"/>
                <a:gridCol w="1513025"/>
              </a:tblGrid>
              <a:tr h="371575">
                <a:tc>
                  <a:txBody>
                    <a:bodyPr/>
                    <a:lstStyle/>
                    <a:p>
                      <a:pPr indent="0" lvl="0" marL="0" rtl="0" algn="ctr">
                        <a:spcBef>
                          <a:spcPts val="0"/>
                        </a:spcBef>
                        <a:spcAft>
                          <a:spcPts val="0"/>
                        </a:spcAft>
                        <a:buNone/>
                      </a:pPr>
                      <a:r>
                        <a:rPr b="1" lang="en" sz="1600">
                          <a:latin typeface="Calibri"/>
                          <a:ea typeface="Calibri"/>
                          <a:cs typeface="Calibri"/>
                          <a:sym typeface="Calibri"/>
                        </a:rPr>
                        <a:t>Fixed Effect</a:t>
                      </a:r>
                      <a:endParaRPr b="1" sz="1600">
                        <a:latin typeface="Calibri"/>
                        <a:ea typeface="Calibri"/>
                        <a:cs typeface="Calibri"/>
                        <a:sym typeface="Calibri"/>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b="1" lang="en" sz="1600">
                          <a:latin typeface="Calibri"/>
                          <a:ea typeface="Calibri"/>
                          <a:cs typeface="Calibri"/>
                          <a:sym typeface="Calibri"/>
                        </a:rPr>
                        <a:t>Estimate</a:t>
                      </a:r>
                      <a:endParaRPr b="1" sz="1600">
                        <a:latin typeface="Calibri"/>
                        <a:ea typeface="Calibri"/>
                        <a:cs typeface="Calibri"/>
                        <a:sym typeface="Calibri"/>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1"/>
                    </a:solidFill>
                  </a:tcPr>
                </a:tc>
              </a:tr>
              <a:tr h="371575">
                <a:tc>
                  <a:txBody>
                    <a:bodyPr/>
                    <a:lstStyle/>
                    <a:p>
                      <a:pPr indent="0" lvl="0" marL="0" rtl="0" algn="ctr">
                        <a:spcBef>
                          <a:spcPts val="0"/>
                        </a:spcBef>
                        <a:spcAft>
                          <a:spcPts val="0"/>
                        </a:spcAft>
                        <a:buNone/>
                      </a:pPr>
                      <a:r>
                        <a:rPr lang="en" sz="1600">
                          <a:latin typeface="Calibri"/>
                          <a:ea typeface="Calibri"/>
                          <a:cs typeface="Calibri"/>
                          <a:sym typeface="Calibri"/>
                        </a:rPr>
                        <a:t>Gender1</a:t>
                      </a:r>
                      <a:endParaRPr sz="1600">
                        <a:latin typeface="Calibri"/>
                        <a:ea typeface="Calibri"/>
                        <a:cs typeface="Calibri"/>
                        <a:sym typeface="Calibri"/>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lang="en" sz="1600">
                          <a:latin typeface="Calibri"/>
                          <a:ea typeface="Calibri"/>
                          <a:cs typeface="Calibri"/>
                          <a:sym typeface="Calibri"/>
                        </a:rPr>
                        <a:t>1.823774</a:t>
                      </a:r>
                      <a:endParaRPr sz="1600">
                        <a:latin typeface="Calibri"/>
                        <a:ea typeface="Calibri"/>
                        <a:cs typeface="Calibri"/>
                        <a:sym typeface="Calibri"/>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1"/>
                    </a:solidFill>
                  </a:tcPr>
                </a:tc>
              </a:tr>
              <a:tr h="461725">
                <a:tc>
                  <a:txBody>
                    <a:bodyPr/>
                    <a:lstStyle/>
                    <a:p>
                      <a:pPr indent="0" lvl="0" marL="0" rtl="0" algn="ctr">
                        <a:spcBef>
                          <a:spcPts val="0"/>
                        </a:spcBef>
                        <a:spcAft>
                          <a:spcPts val="0"/>
                        </a:spcAft>
                        <a:buNone/>
                      </a:pPr>
                      <a:r>
                        <a:rPr lang="en" sz="1600">
                          <a:latin typeface="Calibri"/>
                          <a:ea typeface="Calibri"/>
                          <a:cs typeface="Calibri"/>
                          <a:sym typeface="Calibri"/>
                        </a:rPr>
                        <a:t>Gender2</a:t>
                      </a:r>
                      <a:endParaRPr sz="1600">
                        <a:latin typeface="Calibri"/>
                        <a:ea typeface="Calibri"/>
                        <a:cs typeface="Calibri"/>
                        <a:sym typeface="Calibri"/>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lang="en" sz="1600">
                          <a:latin typeface="Calibri"/>
                          <a:ea typeface="Calibri"/>
                          <a:cs typeface="Calibri"/>
                          <a:sym typeface="Calibri"/>
                        </a:rPr>
                        <a:t>-1.190442</a:t>
                      </a:r>
                      <a:endParaRPr sz="1600">
                        <a:latin typeface="Calibri"/>
                        <a:ea typeface="Calibri"/>
                        <a:cs typeface="Calibri"/>
                        <a:sym typeface="Calibri"/>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1"/>
                    </a:solidFill>
                  </a:tcPr>
                </a:tc>
              </a:tr>
              <a:tr h="371575">
                <a:tc>
                  <a:txBody>
                    <a:bodyPr/>
                    <a:lstStyle/>
                    <a:p>
                      <a:pPr indent="0" lvl="0" marL="0" rtl="0" algn="ctr">
                        <a:spcBef>
                          <a:spcPts val="0"/>
                        </a:spcBef>
                        <a:spcAft>
                          <a:spcPts val="0"/>
                        </a:spcAft>
                        <a:buNone/>
                      </a:pPr>
                      <a:r>
                        <a:rPr lang="en" sz="1600">
                          <a:latin typeface="Calibri"/>
                          <a:ea typeface="Calibri"/>
                          <a:cs typeface="Calibri"/>
                          <a:sym typeface="Calibri"/>
                        </a:rPr>
                        <a:t>Posts_per_day</a:t>
                      </a:r>
                      <a:endParaRPr sz="1600">
                        <a:latin typeface="Calibri"/>
                        <a:ea typeface="Calibri"/>
                        <a:cs typeface="Calibri"/>
                        <a:sym typeface="Calibri"/>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lang="en" sz="1600">
                          <a:latin typeface="Calibri"/>
                          <a:ea typeface="Calibri"/>
                          <a:cs typeface="Calibri"/>
                          <a:sym typeface="Calibri"/>
                        </a:rPr>
                        <a:t>2.578717</a:t>
                      </a:r>
                      <a:endParaRPr sz="1600">
                        <a:latin typeface="Calibri"/>
                        <a:ea typeface="Calibri"/>
                        <a:cs typeface="Calibri"/>
                        <a:sym typeface="Calibri"/>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1"/>
                    </a:solidFill>
                  </a:tcPr>
                </a:tc>
              </a:tr>
              <a:tr h="461725">
                <a:tc>
                  <a:txBody>
                    <a:bodyPr/>
                    <a:lstStyle/>
                    <a:p>
                      <a:pPr indent="0" lvl="0" marL="0" rtl="0" algn="ctr">
                        <a:spcBef>
                          <a:spcPts val="0"/>
                        </a:spcBef>
                        <a:spcAft>
                          <a:spcPts val="0"/>
                        </a:spcAft>
                        <a:buNone/>
                      </a:pPr>
                      <a:r>
                        <a:rPr lang="en" sz="1600">
                          <a:latin typeface="Calibri"/>
                          <a:ea typeface="Calibri"/>
                          <a:cs typeface="Calibri"/>
                          <a:sym typeface="Calibri"/>
                        </a:rPr>
                        <a:t>Likes_recieved_per_day</a:t>
                      </a:r>
                      <a:endParaRPr sz="1600">
                        <a:latin typeface="Calibri"/>
                        <a:ea typeface="Calibri"/>
                        <a:cs typeface="Calibri"/>
                        <a:sym typeface="Calibri"/>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lang="en" sz="1600">
                          <a:latin typeface="Calibri"/>
                          <a:ea typeface="Calibri"/>
                          <a:cs typeface="Calibri"/>
                          <a:sym typeface="Calibri"/>
                        </a:rPr>
                        <a:t>0.3820382</a:t>
                      </a:r>
                      <a:endParaRPr sz="1600">
                        <a:latin typeface="Calibri"/>
                        <a:ea typeface="Calibri"/>
                        <a:cs typeface="Calibri"/>
                        <a:sym typeface="Calibri"/>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1"/>
                    </a:solidFill>
                  </a:tcPr>
                </a:tc>
              </a:tr>
              <a:tr h="371575">
                <a:tc>
                  <a:txBody>
                    <a:bodyPr/>
                    <a:lstStyle/>
                    <a:p>
                      <a:pPr indent="0" lvl="0" marL="0" rtl="0" algn="ctr">
                        <a:spcBef>
                          <a:spcPts val="0"/>
                        </a:spcBef>
                        <a:spcAft>
                          <a:spcPts val="0"/>
                        </a:spcAft>
                        <a:buNone/>
                      </a:pPr>
                      <a:r>
                        <a:rPr lang="en" sz="1600">
                          <a:latin typeface="Calibri"/>
                          <a:ea typeface="Calibri"/>
                          <a:cs typeface="Calibri"/>
                          <a:sym typeface="Calibri"/>
                        </a:rPr>
                        <a:t>Messages_sent_per_day</a:t>
                      </a:r>
                      <a:endParaRPr sz="1600">
                        <a:latin typeface="Calibri"/>
                        <a:ea typeface="Calibri"/>
                        <a:cs typeface="Calibri"/>
                        <a:sym typeface="Calibri"/>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lang="en" sz="1600">
                          <a:latin typeface="Calibri"/>
                          <a:ea typeface="Calibri"/>
                          <a:cs typeface="Calibri"/>
                          <a:sym typeface="Calibri"/>
                        </a:rPr>
                        <a:t>1.308504</a:t>
                      </a:r>
                      <a:endParaRPr sz="1600">
                        <a:latin typeface="Calibri"/>
                        <a:ea typeface="Calibri"/>
                        <a:cs typeface="Calibri"/>
                        <a:sym typeface="Calibri"/>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1"/>
                    </a:solidFill>
                  </a:tcPr>
                </a:tc>
              </a:tr>
              <a:tr h="461725">
                <a:tc>
                  <a:txBody>
                    <a:bodyPr/>
                    <a:lstStyle/>
                    <a:p>
                      <a:pPr indent="0" lvl="0" marL="0" rtl="0" algn="ctr">
                        <a:spcBef>
                          <a:spcPts val="0"/>
                        </a:spcBef>
                        <a:spcAft>
                          <a:spcPts val="0"/>
                        </a:spcAft>
                        <a:buNone/>
                      </a:pPr>
                      <a:r>
                        <a:rPr lang="en" sz="1600">
                          <a:latin typeface="Calibri"/>
                          <a:ea typeface="Calibri"/>
                          <a:cs typeface="Calibri"/>
                          <a:sym typeface="Calibri"/>
                        </a:rPr>
                        <a:t>Comments_recieved_per_day</a:t>
                      </a:r>
                      <a:endParaRPr sz="1600">
                        <a:latin typeface="Calibri"/>
                        <a:ea typeface="Calibri"/>
                        <a:cs typeface="Calibri"/>
                        <a:sym typeface="Calibri"/>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lang="en" sz="1600">
                          <a:latin typeface="Calibri"/>
                          <a:ea typeface="Calibri"/>
                          <a:cs typeface="Calibri"/>
                          <a:sym typeface="Calibri"/>
                        </a:rPr>
                        <a:t>0.6693137</a:t>
                      </a:r>
                      <a:endParaRPr sz="1600">
                        <a:latin typeface="Calibri"/>
                        <a:ea typeface="Calibri"/>
                        <a:cs typeface="Calibri"/>
                        <a:sym typeface="Calibri"/>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9"/>
          <p:cNvSpPr txBox="1"/>
          <p:nvPr>
            <p:ph type="title"/>
          </p:nvPr>
        </p:nvSpPr>
        <p:spPr>
          <a:xfrm>
            <a:off x="2393850" y="481200"/>
            <a:ext cx="4356300" cy="890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Final Model</a:t>
            </a:r>
            <a:endParaRPr/>
          </a:p>
        </p:txBody>
      </p:sp>
      <p:sp>
        <p:nvSpPr>
          <p:cNvPr id="175" name="Google Shape;175;p19"/>
          <p:cNvSpPr txBox="1"/>
          <p:nvPr>
            <p:ph idx="1" type="body"/>
          </p:nvPr>
        </p:nvSpPr>
        <p:spPr>
          <a:xfrm>
            <a:off x="568500" y="1133000"/>
            <a:ext cx="8007000" cy="2013300"/>
          </a:xfrm>
          <a:prstGeom prst="rect">
            <a:avLst/>
          </a:prstGeom>
        </p:spPr>
        <p:txBody>
          <a:bodyPr anchorCtr="0" anchor="t" bIns="91425" lIns="91425" spcFirstLastPara="1" rIns="91425" wrap="square" tIns="91425">
            <a:noAutofit/>
          </a:bodyPr>
          <a:lstStyle/>
          <a:p>
            <a:pPr indent="0" lvl="0" marL="0" rtl="0" algn="ctr">
              <a:lnSpc>
                <a:spcPct val="200000"/>
              </a:lnSpc>
              <a:spcBef>
                <a:spcPts val="0"/>
              </a:spcBef>
              <a:spcAft>
                <a:spcPts val="0"/>
              </a:spcAft>
              <a:buNone/>
            </a:pPr>
            <a:r>
              <a:rPr lang="en" sz="2100">
                <a:latin typeface="Nunito"/>
                <a:ea typeface="Nunito"/>
                <a:cs typeface="Nunito"/>
                <a:sym typeface="Nunito"/>
              </a:rPr>
              <a:t>Y = ꞵ</a:t>
            </a:r>
            <a:r>
              <a:rPr baseline="-25000" lang="en" sz="2100">
                <a:latin typeface="Nunito"/>
                <a:ea typeface="Nunito"/>
                <a:cs typeface="Nunito"/>
                <a:sym typeface="Nunito"/>
              </a:rPr>
              <a:t>0</a:t>
            </a:r>
            <a:r>
              <a:rPr lang="en" sz="2100">
                <a:latin typeface="Nunito"/>
                <a:ea typeface="Nunito"/>
                <a:cs typeface="Nunito"/>
                <a:sym typeface="Nunito"/>
              </a:rPr>
              <a:t> + ꞵ</a:t>
            </a:r>
            <a:r>
              <a:rPr baseline="-25000" lang="en" sz="2100">
                <a:latin typeface="Nunito"/>
                <a:ea typeface="Nunito"/>
                <a:cs typeface="Nunito"/>
                <a:sym typeface="Nunito"/>
              </a:rPr>
              <a:t>1</a:t>
            </a:r>
            <a:r>
              <a:rPr lang="en" sz="2100">
                <a:latin typeface="Nunito"/>
                <a:ea typeface="Nunito"/>
                <a:cs typeface="Nunito"/>
                <a:sym typeface="Nunito"/>
              </a:rPr>
              <a:t>x</a:t>
            </a:r>
            <a:r>
              <a:rPr baseline="-25000" lang="en" sz="2100">
                <a:latin typeface="Nunito"/>
                <a:ea typeface="Nunito"/>
                <a:cs typeface="Nunito"/>
                <a:sym typeface="Nunito"/>
              </a:rPr>
              <a:t>1 </a:t>
            </a:r>
            <a:r>
              <a:rPr lang="en" sz="2100">
                <a:latin typeface="Nunito"/>
                <a:ea typeface="Nunito"/>
                <a:cs typeface="Nunito"/>
                <a:sym typeface="Nunito"/>
              </a:rPr>
              <a:t>+ ꞵ</a:t>
            </a:r>
            <a:r>
              <a:rPr baseline="-25000" lang="en" sz="2100">
                <a:latin typeface="Nunito"/>
                <a:ea typeface="Nunito"/>
                <a:cs typeface="Nunito"/>
                <a:sym typeface="Nunito"/>
              </a:rPr>
              <a:t>2</a:t>
            </a:r>
            <a:r>
              <a:rPr lang="en" sz="2100">
                <a:latin typeface="Nunito"/>
                <a:ea typeface="Nunito"/>
                <a:cs typeface="Nunito"/>
                <a:sym typeface="Nunito"/>
              </a:rPr>
              <a:t>x</a:t>
            </a:r>
            <a:r>
              <a:rPr baseline="-25000" lang="en" sz="2100">
                <a:latin typeface="Nunito"/>
                <a:ea typeface="Nunito"/>
                <a:cs typeface="Nunito"/>
                <a:sym typeface="Nunito"/>
              </a:rPr>
              <a:t>2 </a:t>
            </a:r>
            <a:r>
              <a:rPr lang="en" sz="2100">
                <a:latin typeface="Nunito"/>
                <a:ea typeface="Nunito"/>
                <a:cs typeface="Nunito"/>
                <a:sym typeface="Nunito"/>
              </a:rPr>
              <a:t>+ ꞵ</a:t>
            </a:r>
            <a:r>
              <a:rPr baseline="-25000" lang="en" sz="2100">
                <a:latin typeface="Nunito"/>
                <a:ea typeface="Nunito"/>
                <a:cs typeface="Nunito"/>
                <a:sym typeface="Nunito"/>
              </a:rPr>
              <a:t>3</a:t>
            </a:r>
            <a:r>
              <a:rPr lang="en" sz="2100">
                <a:latin typeface="Nunito"/>
                <a:ea typeface="Nunito"/>
                <a:cs typeface="Nunito"/>
                <a:sym typeface="Nunito"/>
              </a:rPr>
              <a:t>x</a:t>
            </a:r>
            <a:r>
              <a:rPr baseline="-25000" lang="en" sz="2100">
                <a:latin typeface="Nunito"/>
                <a:ea typeface="Nunito"/>
                <a:cs typeface="Nunito"/>
                <a:sym typeface="Nunito"/>
              </a:rPr>
              <a:t>3 </a:t>
            </a:r>
            <a:r>
              <a:rPr lang="en" sz="2100">
                <a:latin typeface="Nunito"/>
                <a:ea typeface="Nunito"/>
                <a:cs typeface="Nunito"/>
                <a:sym typeface="Nunito"/>
              </a:rPr>
              <a:t>+ ꞵ</a:t>
            </a:r>
            <a:r>
              <a:rPr baseline="-25000" lang="en" sz="2100">
                <a:latin typeface="Nunito"/>
                <a:ea typeface="Nunito"/>
                <a:cs typeface="Nunito"/>
                <a:sym typeface="Nunito"/>
              </a:rPr>
              <a:t>4</a:t>
            </a:r>
            <a:r>
              <a:rPr lang="en" sz="2100">
                <a:latin typeface="Nunito"/>
                <a:ea typeface="Nunito"/>
                <a:cs typeface="Nunito"/>
                <a:sym typeface="Nunito"/>
              </a:rPr>
              <a:t>x</a:t>
            </a:r>
            <a:r>
              <a:rPr baseline="-25000" lang="en" sz="2100">
                <a:latin typeface="Nunito"/>
                <a:ea typeface="Nunito"/>
                <a:cs typeface="Nunito"/>
                <a:sym typeface="Nunito"/>
              </a:rPr>
              <a:t>4 </a:t>
            </a:r>
            <a:r>
              <a:rPr lang="en" sz="2100">
                <a:latin typeface="Nunito"/>
                <a:ea typeface="Nunito"/>
                <a:cs typeface="Nunito"/>
                <a:sym typeface="Nunito"/>
              </a:rPr>
              <a:t>+ ꞵ</a:t>
            </a:r>
            <a:r>
              <a:rPr baseline="-25000" lang="en" sz="2100">
                <a:latin typeface="Nunito"/>
                <a:ea typeface="Nunito"/>
                <a:cs typeface="Nunito"/>
                <a:sym typeface="Nunito"/>
              </a:rPr>
              <a:t>5</a:t>
            </a:r>
            <a:r>
              <a:rPr lang="en" sz="2100">
                <a:latin typeface="Nunito"/>
                <a:ea typeface="Nunito"/>
                <a:cs typeface="Nunito"/>
                <a:sym typeface="Nunito"/>
              </a:rPr>
              <a:t>x</a:t>
            </a:r>
            <a:r>
              <a:rPr baseline="-25000" lang="en" sz="2100">
                <a:latin typeface="Nunito"/>
                <a:ea typeface="Nunito"/>
                <a:cs typeface="Nunito"/>
                <a:sym typeface="Nunito"/>
              </a:rPr>
              <a:t>5 </a:t>
            </a:r>
            <a:r>
              <a:rPr lang="en" sz="2100">
                <a:latin typeface="Nunito"/>
                <a:ea typeface="Nunito"/>
                <a:cs typeface="Nunito"/>
                <a:sym typeface="Nunito"/>
              </a:rPr>
              <a:t>+ ꞵ</a:t>
            </a:r>
            <a:r>
              <a:rPr baseline="-25000" lang="en" sz="2100">
                <a:latin typeface="Nunito"/>
                <a:ea typeface="Nunito"/>
                <a:cs typeface="Nunito"/>
                <a:sym typeface="Nunito"/>
              </a:rPr>
              <a:t>6</a:t>
            </a:r>
            <a:r>
              <a:rPr lang="en" sz="2100">
                <a:latin typeface="Nunito"/>
                <a:ea typeface="Nunito"/>
                <a:cs typeface="Nunito"/>
                <a:sym typeface="Nunito"/>
              </a:rPr>
              <a:t>x</a:t>
            </a:r>
            <a:r>
              <a:rPr baseline="-25000" lang="en" sz="2100">
                <a:latin typeface="Nunito"/>
                <a:ea typeface="Nunito"/>
                <a:cs typeface="Nunito"/>
                <a:sym typeface="Nunito"/>
              </a:rPr>
              <a:t>6 </a:t>
            </a:r>
            <a:r>
              <a:rPr lang="en" sz="2100">
                <a:latin typeface="Nunito"/>
                <a:ea typeface="Nunito"/>
                <a:cs typeface="Nunito"/>
                <a:sym typeface="Nunito"/>
              </a:rPr>
              <a:t>+ɑ</a:t>
            </a:r>
            <a:r>
              <a:rPr baseline="-25000" lang="en" sz="2100">
                <a:latin typeface="Nunito"/>
                <a:ea typeface="Nunito"/>
                <a:cs typeface="Nunito"/>
                <a:sym typeface="Nunito"/>
              </a:rPr>
              <a:t>1</a:t>
            </a:r>
            <a:r>
              <a:rPr lang="en" sz="2100">
                <a:latin typeface="Nunito"/>
                <a:ea typeface="Nunito"/>
                <a:cs typeface="Nunito"/>
                <a:sym typeface="Nunito"/>
              </a:rPr>
              <a:t>x</a:t>
            </a:r>
            <a:r>
              <a:rPr baseline="-25000" lang="en" sz="2100">
                <a:latin typeface="Nunito"/>
                <a:ea typeface="Nunito"/>
                <a:cs typeface="Nunito"/>
                <a:sym typeface="Nunito"/>
              </a:rPr>
              <a:t>1 </a:t>
            </a:r>
            <a:r>
              <a:rPr lang="en" sz="2100">
                <a:latin typeface="Nunito"/>
                <a:ea typeface="Nunito"/>
                <a:cs typeface="Nunito"/>
                <a:sym typeface="Nunito"/>
              </a:rPr>
              <a:t>+ ɑ</a:t>
            </a:r>
            <a:r>
              <a:rPr baseline="-25000" lang="en" sz="2100">
                <a:latin typeface="Nunito"/>
                <a:ea typeface="Nunito"/>
                <a:cs typeface="Nunito"/>
                <a:sym typeface="Nunito"/>
              </a:rPr>
              <a:t>2</a:t>
            </a:r>
            <a:r>
              <a:rPr lang="en" sz="2100">
                <a:latin typeface="Nunito"/>
                <a:ea typeface="Nunito"/>
                <a:cs typeface="Nunito"/>
                <a:sym typeface="Nunito"/>
              </a:rPr>
              <a:t>x</a:t>
            </a:r>
            <a:r>
              <a:rPr baseline="-25000" lang="en" sz="2100">
                <a:latin typeface="Nunito"/>
                <a:ea typeface="Nunito"/>
                <a:cs typeface="Nunito"/>
                <a:sym typeface="Nunito"/>
              </a:rPr>
              <a:t>2 </a:t>
            </a:r>
            <a:r>
              <a:rPr lang="en" sz="2100">
                <a:latin typeface="Nunito"/>
                <a:ea typeface="Nunito"/>
                <a:cs typeface="Nunito"/>
                <a:sym typeface="Nunito"/>
              </a:rPr>
              <a:t>+ ε</a:t>
            </a:r>
            <a:endParaRPr sz="2100">
              <a:latin typeface="Nunito"/>
              <a:ea typeface="Nunito"/>
              <a:cs typeface="Nunito"/>
              <a:sym typeface="Nunito"/>
            </a:endParaRPr>
          </a:p>
          <a:p>
            <a:pPr indent="0" lvl="0" marL="0" rtl="0" algn="ctr">
              <a:lnSpc>
                <a:spcPct val="200000"/>
              </a:lnSpc>
              <a:spcBef>
                <a:spcPts val="1200"/>
              </a:spcBef>
              <a:spcAft>
                <a:spcPts val="0"/>
              </a:spcAft>
              <a:buNone/>
            </a:pPr>
            <a:r>
              <a:rPr lang="en" sz="2100">
                <a:latin typeface="Nunito"/>
                <a:ea typeface="Nunito"/>
                <a:cs typeface="Nunito"/>
                <a:sym typeface="Nunito"/>
              </a:rPr>
              <a:t>ɑ</a:t>
            </a:r>
            <a:r>
              <a:rPr baseline="-25000" lang="en" sz="2100">
                <a:latin typeface="Nunito"/>
                <a:ea typeface="Nunito"/>
                <a:cs typeface="Nunito"/>
                <a:sym typeface="Nunito"/>
              </a:rPr>
              <a:t>1,2</a:t>
            </a:r>
            <a:r>
              <a:rPr lang="en" sz="2100">
                <a:latin typeface="Nunito"/>
                <a:ea typeface="Nunito"/>
                <a:cs typeface="Nunito"/>
                <a:sym typeface="Nunito"/>
              </a:rPr>
              <a:t> = N(0, 𝝈</a:t>
            </a:r>
            <a:r>
              <a:rPr baseline="30000" lang="en" sz="2100">
                <a:latin typeface="Nunito"/>
                <a:ea typeface="Nunito"/>
                <a:cs typeface="Nunito"/>
                <a:sym typeface="Nunito"/>
              </a:rPr>
              <a:t>2</a:t>
            </a:r>
            <a:r>
              <a:rPr baseline="-25000" lang="en" sz="2100">
                <a:latin typeface="Comfortaa"/>
                <a:ea typeface="Comfortaa"/>
                <a:cs typeface="Comfortaa"/>
                <a:sym typeface="Comfortaa"/>
              </a:rPr>
              <a:t>a</a:t>
            </a:r>
            <a:r>
              <a:rPr lang="en" sz="2100">
                <a:latin typeface="Comfortaa"/>
                <a:ea typeface="Comfortaa"/>
                <a:cs typeface="Comfortaa"/>
                <a:sym typeface="Comfortaa"/>
              </a:rPr>
              <a:t>)</a:t>
            </a:r>
            <a:endParaRPr sz="2100">
              <a:latin typeface="Comfortaa"/>
              <a:ea typeface="Comfortaa"/>
              <a:cs typeface="Comfortaa"/>
              <a:sym typeface="Comfortaa"/>
            </a:endParaRPr>
          </a:p>
          <a:p>
            <a:pPr indent="0" lvl="0" marL="0" rtl="0" algn="ctr">
              <a:lnSpc>
                <a:spcPct val="200000"/>
              </a:lnSpc>
              <a:spcBef>
                <a:spcPts val="1200"/>
              </a:spcBef>
              <a:spcAft>
                <a:spcPts val="0"/>
              </a:spcAft>
              <a:buNone/>
            </a:pPr>
            <a:r>
              <a:rPr lang="en" sz="2100">
                <a:latin typeface="Nunito"/>
                <a:ea typeface="Nunito"/>
                <a:cs typeface="Nunito"/>
                <a:sym typeface="Nunito"/>
              </a:rPr>
              <a:t>ε = N(0, 𝝈</a:t>
            </a:r>
            <a:r>
              <a:rPr baseline="30000" lang="en" sz="2100">
                <a:latin typeface="Nunito"/>
                <a:ea typeface="Nunito"/>
                <a:cs typeface="Nunito"/>
                <a:sym typeface="Nunito"/>
              </a:rPr>
              <a:t>2</a:t>
            </a:r>
            <a:r>
              <a:rPr lang="en" sz="2100">
                <a:latin typeface="Nunito"/>
                <a:ea typeface="Nunito"/>
                <a:cs typeface="Nunito"/>
                <a:sym typeface="Nunito"/>
              </a:rPr>
              <a:t>)</a:t>
            </a:r>
            <a:endParaRPr sz="2100">
              <a:latin typeface="Nunito"/>
              <a:ea typeface="Nunito"/>
              <a:cs typeface="Nunito"/>
              <a:sym typeface="Nunito"/>
            </a:endParaRPr>
          </a:p>
          <a:p>
            <a:pPr indent="0" lvl="0" marL="0" rtl="0" algn="ctr">
              <a:lnSpc>
                <a:spcPct val="200000"/>
              </a:lnSpc>
              <a:spcBef>
                <a:spcPts val="1200"/>
              </a:spcBef>
              <a:spcAft>
                <a:spcPts val="1200"/>
              </a:spcAft>
              <a:buNone/>
            </a:pPr>
            <a:r>
              <a:t/>
            </a:r>
            <a:endParaRPr sz="2100">
              <a:latin typeface="Nunito"/>
              <a:ea typeface="Nunito"/>
              <a:cs typeface="Nunito"/>
              <a:sym typeface="Nunito"/>
            </a:endParaRPr>
          </a:p>
        </p:txBody>
      </p:sp>
      <p:sp>
        <p:nvSpPr>
          <p:cNvPr id="176" name="Google Shape;176;p19"/>
          <p:cNvSpPr txBox="1"/>
          <p:nvPr/>
        </p:nvSpPr>
        <p:spPr>
          <a:xfrm>
            <a:off x="5628875" y="2000050"/>
            <a:ext cx="2609700" cy="5409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1200"/>
              </a:spcAft>
              <a:buNone/>
            </a:pPr>
            <a:r>
              <a:rPr lang="en" sz="1000">
                <a:solidFill>
                  <a:schemeClr val="dk2"/>
                </a:solidFill>
                <a:latin typeface="Nunito"/>
                <a:ea typeface="Nunito"/>
                <a:cs typeface="Nunito"/>
                <a:sym typeface="Nunito"/>
              </a:rPr>
              <a:t>Where ɑ</a:t>
            </a:r>
            <a:r>
              <a:rPr baseline="-25000" lang="en" sz="1000">
                <a:solidFill>
                  <a:schemeClr val="dk2"/>
                </a:solidFill>
                <a:latin typeface="Nunito"/>
                <a:ea typeface="Nunito"/>
                <a:cs typeface="Nunito"/>
                <a:sym typeface="Nunito"/>
              </a:rPr>
              <a:t>1 </a:t>
            </a:r>
            <a:r>
              <a:rPr lang="en" sz="1000">
                <a:solidFill>
                  <a:schemeClr val="dk2"/>
                </a:solidFill>
                <a:latin typeface="Nunito"/>
                <a:ea typeface="Nunito"/>
                <a:cs typeface="Nunito"/>
                <a:sym typeface="Nunito"/>
              </a:rPr>
              <a:t>and ɑ</a:t>
            </a:r>
            <a:r>
              <a:rPr baseline="-25000" lang="en" sz="1000">
                <a:solidFill>
                  <a:schemeClr val="dk2"/>
                </a:solidFill>
                <a:latin typeface="Nunito"/>
                <a:ea typeface="Nunito"/>
                <a:cs typeface="Nunito"/>
                <a:sym typeface="Nunito"/>
              </a:rPr>
              <a:t>2</a:t>
            </a:r>
            <a:r>
              <a:rPr lang="en" sz="1000">
                <a:solidFill>
                  <a:schemeClr val="dk2"/>
                </a:solidFill>
                <a:latin typeface="Nunito"/>
                <a:ea typeface="Nunito"/>
                <a:cs typeface="Nunito"/>
                <a:sym typeface="Nunito"/>
              </a:rPr>
              <a:t> are random effect terms and assumed to be normally distributed.</a:t>
            </a:r>
            <a:endParaRPr sz="1000">
              <a:solidFill>
                <a:schemeClr val="dk2"/>
              </a:solidFill>
              <a:latin typeface="Calibri"/>
              <a:ea typeface="Calibri"/>
              <a:cs typeface="Calibri"/>
              <a:sym typeface="Calibri"/>
            </a:endParaRPr>
          </a:p>
        </p:txBody>
      </p:sp>
      <p:sp>
        <p:nvSpPr>
          <p:cNvPr id="177" name="Google Shape;177;p19"/>
          <p:cNvSpPr txBox="1"/>
          <p:nvPr/>
        </p:nvSpPr>
        <p:spPr>
          <a:xfrm>
            <a:off x="499500" y="2295825"/>
            <a:ext cx="2696400" cy="20133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900">
                <a:solidFill>
                  <a:schemeClr val="dk2"/>
                </a:solidFill>
                <a:latin typeface="Nunito"/>
                <a:ea typeface="Nunito"/>
                <a:cs typeface="Nunito"/>
                <a:sym typeface="Nunito"/>
              </a:rPr>
              <a:t>Variance Estimates:</a:t>
            </a:r>
            <a:endParaRPr b="1" sz="1900">
              <a:solidFill>
                <a:schemeClr val="dk2"/>
              </a:solidFill>
              <a:latin typeface="Nunito"/>
              <a:ea typeface="Nunito"/>
              <a:cs typeface="Nunito"/>
              <a:sym typeface="Nunito"/>
            </a:endParaRPr>
          </a:p>
          <a:p>
            <a:pPr indent="0" lvl="0" marL="0" rtl="0" algn="just">
              <a:lnSpc>
                <a:spcPct val="100000"/>
              </a:lnSpc>
              <a:spcBef>
                <a:spcPts val="1200"/>
              </a:spcBef>
              <a:spcAft>
                <a:spcPts val="0"/>
              </a:spcAft>
              <a:buNone/>
            </a:pPr>
            <a:r>
              <a:rPr lang="en" sz="1900">
                <a:solidFill>
                  <a:schemeClr val="dk2"/>
                </a:solidFill>
                <a:latin typeface="Nunito"/>
                <a:ea typeface="Nunito"/>
                <a:cs typeface="Nunito"/>
                <a:sym typeface="Nunito"/>
              </a:rPr>
              <a:t>𝝈</a:t>
            </a:r>
            <a:r>
              <a:rPr baseline="30000" lang="en" sz="1900">
                <a:solidFill>
                  <a:schemeClr val="dk2"/>
                </a:solidFill>
                <a:latin typeface="Nunito"/>
                <a:ea typeface="Nunito"/>
                <a:cs typeface="Nunito"/>
                <a:sym typeface="Nunito"/>
              </a:rPr>
              <a:t>2</a:t>
            </a:r>
            <a:r>
              <a:rPr baseline="-25000" lang="en" sz="1300">
                <a:solidFill>
                  <a:schemeClr val="dk2"/>
                </a:solidFill>
                <a:latin typeface="Comfortaa"/>
                <a:ea typeface="Comfortaa"/>
                <a:cs typeface="Comfortaa"/>
                <a:sym typeface="Comfortaa"/>
              </a:rPr>
              <a:t>Platform</a:t>
            </a:r>
            <a:r>
              <a:rPr baseline="-25000" lang="en" sz="1900">
                <a:solidFill>
                  <a:schemeClr val="dk2"/>
                </a:solidFill>
                <a:latin typeface="Comfortaa"/>
                <a:ea typeface="Comfortaa"/>
                <a:cs typeface="Comfortaa"/>
                <a:sym typeface="Comfortaa"/>
              </a:rPr>
              <a:t> 	 	</a:t>
            </a:r>
            <a:r>
              <a:rPr lang="en" sz="1900">
                <a:solidFill>
                  <a:schemeClr val="dk2"/>
                </a:solidFill>
                <a:latin typeface="Comfortaa"/>
                <a:ea typeface="Comfortaa"/>
                <a:cs typeface="Comfortaa"/>
                <a:sym typeface="Comfortaa"/>
              </a:rPr>
              <a:t>=  46.36</a:t>
            </a:r>
            <a:endParaRPr sz="1900">
              <a:solidFill>
                <a:schemeClr val="dk2"/>
              </a:solidFill>
              <a:latin typeface="Comfortaa"/>
              <a:ea typeface="Comfortaa"/>
              <a:cs typeface="Comfortaa"/>
              <a:sym typeface="Comfortaa"/>
            </a:endParaRPr>
          </a:p>
          <a:p>
            <a:pPr indent="0" lvl="0" marL="0" rtl="0" algn="just">
              <a:lnSpc>
                <a:spcPct val="100000"/>
              </a:lnSpc>
              <a:spcBef>
                <a:spcPts val="1200"/>
              </a:spcBef>
              <a:spcAft>
                <a:spcPts val="0"/>
              </a:spcAft>
              <a:buNone/>
            </a:pPr>
            <a:r>
              <a:rPr lang="en" sz="1900">
                <a:solidFill>
                  <a:schemeClr val="dk2"/>
                </a:solidFill>
                <a:latin typeface="Nunito"/>
                <a:ea typeface="Nunito"/>
                <a:cs typeface="Nunito"/>
                <a:sym typeface="Nunito"/>
              </a:rPr>
              <a:t>𝝈</a:t>
            </a:r>
            <a:r>
              <a:rPr baseline="30000" lang="en" sz="1900">
                <a:solidFill>
                  <a:schemeClr val="dk2"/>
                </a:solidFill>
                <a:latin typeface="Nunito"/>
                <a:ea typeface="Nunito"/>
                <a:cs typeface="Nunito"/>
                <a:sym typeface="Nunito"/>
              </a:rPr>
              <a:t>2</a:t>
            </a:r>
            <a:r>
              <a:rPr baseline="-25000" lang="en" sz="1300">
                <a:solidFill>
                  <a:schemeClr val="dk2"/>
                </a:solidFill>
                <a:latin typeface="Comfortaa"/>
                <a:ea typeface="Comfortaa"/>
                <a:cs typeface="Comfortaa"/>
                <a:sym typeface="Comfortaa"/>
              </a:rPr>
              <a:t>Dominant_emotion	</a:t>
            </a:r>
            <a:r>
              <a:rPr lang="en" sz="1900">
                <a:solidFill>
                  <a:schemeClr val="dk2"/>
                </a:solidFill>
                <a:latin typeface="Comfortaa"/>
                <a:ea typeface="Comfortaa"/>
                <a:cs typeface="Comfortaa"/>
                <a:sym typeface="Comfortaa"/>
              </a:rPr>
              <a:t>= 11.12</a:t>
            </a:r>
            <a:endParaRPr sz="1900">
              <a:solidFill>
                <a:schemeClr val="dk2"/>
              </a:solidFill>
              <a:latin typeface="Comfortaa"/>
              <a:ea typeface="Comfortaa"/>
              <a:cs typeface="Comfortaa"/>
              <a:sym typeface="Comfortaa"/>
            </a:endParaRPr>
          </a:p>
          <a:p>
            <a:pPr indent="0" lvl="0" marL="0" rtl="0" algn="just">
              <a:lnSpc>
                <a:spcPct val="200000"/>
              </a:lnSpc>
              <a:spcBef>
                <a:spcPts val="1200"/>
              </a:spcBef>
              <a:spcAft>
                <a:spcPts val="1200"/>
              </a:spcAft>
              <a:buNone/>
            </a:pPr>
            <a:r>
              <a:rPr lang="en" sz="1900">
                <a:solidFill>
                  <a:schemeClr val="dk2"/>
                </a:solidFill>
                <a:latin typeface="Nunito"/>
                <a:ea typeface="Nunito"/>
                <a:cs typeface="Nunito"/>
                <a:sym typeface="Nunito"/>
              </a:rPr>
              <a:t>𝝈</a:t>
            </a:r>
            <a:r>
              <a:rPr baseline="30000" lang="en" sz="1900">
                <a:solidFill>
                  <a:schemeClr val="dk2"/>
                </a:solidFill>
                <a:latin typeface="Nunito"/>
                <a:ea typeface="Nunito"/>
                <a:cs typeface="Nunito"/>
                <a:sym typeface="Nunito"/>
              </a:rPr>
              <a:t>2</a:t>
            </a:r>
            <a:r>
              <a:rPr baseline="-25000" lang="en" sz="1300">
                <a:solidFill>
                  <a:schemeClr val="dk2"/>
                </a:solidFill>
                <a:latin typeface="Comfortaa"/>
                <a:ea typeface="Comfortaa"/>
                <a:cs typeface="Comfortaa"/>
                <a:sym typeface="Comfortaa"/>
              </a:rPr>
              <a:t>R</a:t>
            </a:r>
            <a:r>
              <a:rPr baseline="-25000" lang="en" sz="1300">
                <a:solidFill>
                  <a:schemeClr val="dk2"/>
                </a:solidFill>
                <a:latin typeface="Comfortaa"/>
                <a:ea typeface="Comfortaa"/>
                <a:cs typeface="Comfortaa"/>
                <a:sym typeface="Comfortaa"/>
              </a:rPr>
              <a:t>esidual</a:t>
            </a:r>
            <a:r>
              <a:rPr lang="en" sz="1900">
                <a:solidFill>
                  <a:schemeClr val="dk2"/>
                </a:solidFill>
                <a:latin typeface="Comfortaa"/>
                <a:ea typeface="Comfortaa"/>
                <a:cs typeface="Comfortaa"/>
                <a:sym typeface="Comfortaa"/>
              </a:rPr>
              <a:t> 	 	= 135.67</a:t>
            </a:r>
            <a:endParaRPr sz="1900">
              <a:solidFill>
                <a:schemeClr val="dk2"/>
              </a:solidFill>
              <a:latin typeface="Comfortaa"/>
              <a:ea typeface="Comfortaa"/>
              <a:cs typeface="Comfortaa"/>
              <a:sym typeface="Comfortaa"/>
            </a:endParaRPr>
          </a:p>
        </p:txBody>
      </p:sp>
      <p:pic>
        <p:nvPicPr>
          <p:cNvPr id="178" name="Google Shape;178;p19"/>
          <p:cNvPicPr preferRelativeResize="0"/>
          <p:nvPr/>
        </p:nvPicPr>
        <p:blipFill>
          <a:blip r:embed="rId3">
            <a:alphaModFix/>
          </a:blip>
          <a:stretch>
            <a:fillRect/>
          </a:stretch>
        </p:blipFill>
        <p:spPr>
          <a:xfrm>
            <a:off x="5550800" y="3001025"/>
            <a:ext cx="3091332" cy="16229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type="title"/>
          </p:nvPr>
        </p:nvSpPr>
        <p:spPr>
          <a:xfrm>
            <a:off x="2393850" y="481200"/>
            <a:ext cx="4356300" cy="890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Final Model</a:t>
            </a:r>
            <a:endParaRPr/>
          </a:p>
        </p:txBody>
      </p:sp>
      <p:sp>
        <p:nvSpPr>
          <p:cNvPr id="184" name="Google Shape;184;p20"/>
          <p:cNvSpPr txBox="1"/>
          <p:nvPr>
            <p:ph idx="1" type="body"/>
          </p:nvPr>
        </p:nvSpPr>
        <p:spPr>
          <a:xfrm>
            <a:off x="568500" y="1133000"/>
            <a:ext cx="8007000" cy="2013300"/>
          </a:xfrm>
          <a:prstGeom prst="rect">
            <a:avLst/>
          </a:prstGeom>
        </p:spPr>
        <p:txBody>
          <a:bodyPr anchorCtr="0" anchor="t" bIns="91425" lIns="91425" spcFirstLastPara="1" rIns="91425" wrap="square" tIns="91425">
            <a:noAutofit/>
          </a:bodyPr>
          <a:lstStyle/>
          <a:p>
            <a:pPr indent="0" lvl="0" marL="0" rtl="0" algn="ctr">
              <a:lnSpc>
                <a:spcPct val="200000"/>
              </a:lnSpc>
              <a:spcBef>
                <a:spcPts val="0"/>
              </a:spcBef>
              <a:spcAft>
                <a:spcPts val="0"/>
              </a:spcAft>
              <a:buNone/>
            </a:pPr>
            <a:r>
              <a:rPr lang="en" sz="2100">
                <a:latin typeface="Nunito"/>
                <a:ea typeface="Nunito"/>
                <a:cs typeface="Nunito"/>
                <a:sym typeface="Nunito"/>
              </a:rPr>
              <a:t>Y = ꞵ</a:t>
            </a:r>
            <a:r>
              <a:rPr baseline="-25000" lang="en" sz="2100">
                <a:latin typeface="Nunito"/>
                <a:ea typeface="Nunito"/>
                <a:cs typeface="Nunito"/>
                <a:sym typeface="Nunito"/>
              </a:rPr>
              <a:t>0</a:t>
            </a:r>
            <a:r>
              <a:rPr lang="en" sz="2100">
                <a:latin typeface="Nunito"/>
                <a:ea typeface="Nunito"/>
                <a:cs typeface="Nunito"/>
                <a:sym typeface="Nunito"/>
              </a:rPr>
              <a:t> + ꞵ</a:t>
            </a:r>
            <a:r>
              <a:rPr baseline="-25000" lang="en" sz="2100">
                <a:latin typeface="Nunito"/>
                <a:ea typeface="Nunito"/>
                <a:cs typeface="Nunito"/>
                <a:sym typeface="Nunito"/>
              </a:rPr>
              <a:t>1</a:t>
            </a:r>
            <a:r>
              <a:rPr lang="en" sz="2100">
                <a:latin typeface="Nunito"/>
                <a:ea typeface="Nunito"/>
                <a:cs typeface="Nunito"/>
                <a:sym typeface="Nunito"/>
              </a:rPr>
              <a:t>x</a:t>
            </a:r>
            <a:r>
              <a:rPr baseline="-25000" lang="en" sz="2100">
                <a:latin typeface="Nunito"/>
                <a:ea typeface="Nunito"/>
                <a:cs typeface="Nunito"/>
                <a:sym typeface="Nunito"/>
              </a:rPr>
              <a:t>1 </a:t>
            </a:r>
            <a:r>
              <a:rPr lang="en" sz="2100">
                <a:latin typeface="Nunito"/>
                <a:ea typeface="Nunito"/>
                <a:cs typeface="Nunito"/>
                <a:sym typeface="Nunito"/>
              </a:rPr>
              <a:t>+ ꞵ</a:t>
            </a:r>
            <a:r>
              <a:rPr baseline="-25000" lang="en" sz="2100">
                <a:latin typeface="Nunito"/>
                <a:ea typeface="Nunito"/>
                <a:cs typeface="Nunito"/>
                <a:sym typeface="Nunito"/>
              </a:rPr>
              <a:t>2</a:t>
            </a:r>
            <a:r>
              <a:rPr lang="en" sz="2100">
                <a:latin typeface="Nunito"/>
                <a:ea typeface="Nunito"/>
                <a:cs typeface="Nunito"/>
                <a:sym typeface="Nunito"/>
              </a:rPr>
              <a:t>x</a:t>
            </a:r>
            <a:r>
              <a:rPr baseline="-25000" lang="en" sz="2100">
                <a:latin typeface="Nunito"/>
                <a:ea typeface="Nunito"/>
                <a:cs typeface="Nunito"/>
                <a:sym typeface="Nunito"/>
              </a:rPr>
              <a:t>2 </a:t>
            </a:r>
            <a:r>
              <a:rPr lang="en" sz="2100">
                <a:latin typeface="Nunito"/>
                <a:ea typeface="Nunito"/>
                <a:cs typeface="Nunito"/>
                <a:sym typeface="Nunito"/>
              </a:rPr>
              <a:t>+ ꞵ</a:t>
            </a:r>
            <a:r>
              <a:rPr baseline="-25000" lang="en" sz="2100">
                <a:latin typeface="Nunito"/>
                <a:ea typeface="Nunito"/>
                <a:cs typeface="Nunito"/>
                <a:sym typeface="Nunito"/>
              </a:rPr>
              <a:t>3</a:t>
            </a:r>
            <a:r>
              <a:rPr lang="en" sz="2100">
                <a:latin typeface="Nunito"/>
                <a:ea typeface="Nunito"/>
                <a:cs typeface="Nunito"/>
                <a:sym typeface="Nunito"/>
              </a:rPr>
              <a:t>x</a:t>
            </a:r>
            <a:r>
              <a:rPr baseline="-25000" lang="en" sz="2100">
                <a:latin typeface="Nunito"/>
                <a:ea typeface="Nunito"/>
                <a:cs typeface="Nunito"/>
                <a:sym typeface="Nunito"/>
              </a:rPr>
              <a:t>3 </a:t>
            </a:r>
            <a:r>
              <a:rPr lang="en" sz="2100">
                <a:latin typeface="Nunito"/>
                <a:ea typeface="Nunito"/>
                <a:cs typeface="Nunito"/>
                <a:sym typeface="Nunito"/>
              </a:rPr>
              <a:t>+ ꞵ</a:t>
            </a:r>
            <a:r>
              <a:rPr baseline="-25000" lang="en" sz="2100">
                <a:latin typeface="Nunito"/>
                <a:ea typeface="Nunito"/>
                <a:cs typeface="Nunito"/>
                <a:sym typeface="Nunito"/>
              </a:rPr>
              <a:t>4</a:t>
            </a:r>
            <a:r>
              <a:rPr lang="en" sz="2100">
                <a:latin typeface="Nunito"/>
                <a:ea typeface="Nunito"/>
                <a:cs typeface="Nunito"/>
                <a:sym typeface="Nunito"/>
              </a:rPr>
              <a:t>x</a:t>
            </a:r>
            <a:r>
              <a:rPr baseline="-25000" lang="en" sz="2100">
                <a:latin typeface="Nunito"/>
                <a:ea typeface="Nunito"/>
                <a:cs typeface="Nunito"/>
                <a:sym typeface="Nunito"/>
              </a:rPr>
              <a:t>4 </a:t>
            </a:r>
            <a:r>
              <a:rPr lang="en" sz="2100">
                <a:latin typeface="Nunito"/>
                <a:ea typeface="Nunito"/>
                <a:cs typeface="Nunito"/>
                <a:sym typeface="Nunito"/>
              </a:rPr>
              <a:t>+ ꞵ</a:t>
            </a:r>
            <a:r>
              <a:rPr baseline="-25000" lang="en" sz="2100">
                <a:latin typeface="Nunito"/>
                <a:ea typeface="Nunito"/>
                <a:cs typeface="Nunito"/>
                <a:sym typeface="Nunito"/>
              </a:rPr>
              <a:t>5</a:t>
            </a:r>
            <a:r>
              <a:rPr lang="en" sz="2100">
                <a:latin typeface="Nunito"/>
                <a:ea typeface="Nunito"/>
                <a:cs typeface="Nunito"/>
                <a:sym typeface="Nunito"/>
              </a:rPr>
              <a:t>x</a:t>
            </a:r>
            <a:r>
              <a:rPr baseline="-25000" lang="en" sz="2100">
                <a:latin typeface="Nunito"/>
                <a:ea typeface="Nunito"/>
                <a:cs typeface="Nunito"/>
                <a:sym typeface="Nunito"/>
              </a:rPr>
              <a:t>5 </a:t>
            </a:r>
            <a:r>
              <a:rPr lang="en" sz="2100">
                <a:latin typeface="Nunito"/>
                <a:ea typeface="Nunito"/>
                <a:cs typeface="Nunito"/>
                <a:sym typeface="Nunito"/>
              </a:rPr>
              <a:t>+ ꞵ</a:t>
            </a:r>
            <a:r>
              <a:rPr baseline="-25000" lang="en" sz="2100">
                <a:latin typeface="Nunito"/>
                <a:ea typeface="Nunito"/>
                <a:cs typeface="Nunito"/>
                <a:sym typeface="Nunito"/>
              </a:rPr>
              <a:t>6</a:t>
            </a:r>
            <a:r>
              <a:rPr lang="en" sz="2100">
                <a:latin typeface="Nunito"/>
                <a:ea typeface="Nunito"/>
                <a:cs typeface="Nunito"/>
                <a:sym typeface="Nunito"/>
              </a:rPr>
              <a:t>x</a:t>
            </a:r>
            <a:r>
              <a:rPr baseline="-25000" lang="en" sz="2100">
                <a:latin typeface="Nunito"/>
                <a:ea typeface="Nunito"/>
                <a:cs typeface="Nunito"/>
                <a:sym typeface="Nunito"/>
              </a:rPr>
              <a:t>6 </a:t>
            </a:r>
            <a:r>
              <a:rPr lang="en" sz="2100">
                <a:latin typeface="Nunito"/>
                <a:ea typeface="Nunito"/>
                <a:cs typeface="Nunito"/>
                <a:sym typeface="Nunito"/>
              </a:rPr>
              <a:t>+ɑ</a:t>
            </a:r>
            <a:r>
              <a:rPr baseline="-25000" lang="en" sz="2100">
                <a:latin typeface="Nunito"/>
                <a:ea typeface="Nunito"/>
                <a:cs typeface="Nunito"/>
                <a:sym typeface="Nunito"/>
              </a:rPr>
              <a:t>1</a:t>
            </a:r>
            <a:r>
              <a:rPr lang="en" sz="2100">
                <a:latin typeface="Nunito"/>
                <a:ea typeface="Nunito"/>
                <a:cs typeface="Nunito"/>
                <a:sym typeface="Nunito"/>
              </a:rPr>
              <a:t>x</a:t>
            </a:r>
            <a:r>
              <a:rPr baseline="-25000" lang="en" sz="2100">
                <a:latin typeface="Nunito"/>
                <a:ea typeface="Nunito"/>
                <a:cs typeface="Nunito"/>
                <a:sym typeface="Nunito"/>
              </a:rPr>
              <a:t>1 </a:t>
            </a:r>
            <a:r>
              <a:rPr lang="en" sz="2100">
                <a:latin typeface="Nunito"/>
                <a:ea typeface="Nunito"/>
                <a:cs typeface="Nunito"/>
                <a:sym typeface="Nunito"/>
              </a:rPr>
              <a:t>+ ɑ</a:t>
            </a:r>
            <a:r>
              <a:rPr baseline="-25000" lang="en" sz="2100">
                <a:latin typeface="Nunito"/>
                <a:ea typeface="Nunito"/>
                <a:cs typeface="Nunito"/>
                <a:sym typeface="Nunito"/>
              </a:rPr>
              <a:t>2</a:t>
            </a:r>
            <a:r>
              <a:rPr lang="en" sz="2100">
                <a:latin typeface="Nunito"/>
                <a:ea typeface="Nunito"/>
                <a:cs typeface="Nunito"/>
                <a:sym typeface="Nunito"/>
              </a:rPr>
              <a:t>x</a:t>
            </a:r>
            <a:r>
              <a:rPr baseline="-25000" lang="en" sz="2100">
                <a:latin typeface="Nunito"/>
                <a:ea typeface="Nunito"/>
                <a:cs typeface="Nunito"/>
                <a:sym typeface="Nunito"/>
              </a:rPr>
              <a:t>2 </a:t>
            </a:r>
            <a:r>
              <a:rPr lang="en" sz="2100">
                <a:latin typeface="Nunito"/>
                <a:ea typeface="Nunito"/>
                <a:cs typeface="Nunito"/>
                <a:sym typeface="Nunito"/>
              </a:rPr>
              <a:t>+ ε</a:t>
            </a:r>
            <a:endParaRPr sz="2100">
              <a:latin typeface="Nunito"/>
              <a:ea typeface="Nunito"/>
              <a:cs typeface="Nunito"/>
              <a:sym typeface="Nunito"/>
            </a:endParaRPr>
          </a:p>
          <a:p>
            <a:pPr indent="0" lvl="0" marL="0" rtl="0" algn="ctr">
              <a:lnSpc>
                <a:spcPct val="200000"/>
              </a:lnSpc>
              <a:spcBef>
                <a:spcPts val="1200"/>
              </a:spcBef>
              <a:spcAft>
                <a:spcPts val="0"/>
              </a:spcAft>
              <a:buNone/>
            </a:pPr>
            <a:r>
              <a:rPr lang="en" sz="2100">
                <a:latin typeface="Nunito"/>
                <a:ea typeface="Nunito"/>
                <a:cs typeface="Nunito"/>
                <a:sym typeface="Nunito"/>
              </a:rPr>
              <a:t>ɑ</a:t>
            </a:r>
            <a:r>
              <a:rPr baseline="-25000" lang="en" sz="2100">
                <a:latin typeface="Nunito"/>
                <a:ea typeface="Nunito"/>
                <a:cs typeface="Nunito"/>
                <a:sym typeface="Nunito"/>
              </a:rPr>
              <a:t>1,2</a:t>
            </a:r>
            <a:r>
              <a:rPr lang="en" sz="2100">
                <a:latin typeface="Nunito"/>
                <a:ea typeface="Nunito"/>
                <a:cs typeface="Nunito"/>
                <a:sym typeface="Nunito"/>
              </a:rPr>
              <a:t> = N(0, 𝝈</a:t>
            </a:r>
            <a:r>
              <a:rPr baseline="30000" lang="en" sz="2100">
                <a:latin typeface="Nunito"/>
                <a:ea typeface="Nunito"/>
                <a:cs typeface="Nunito"/>
                <a:sym typeface="Nunito"/>
              </a:rPr>
              <a:t>2</a:t>
            </a:r>
            <a:r>
              <a:rPr baseline="-25000" lang="en" sz="2100">
                <a:latin typeface="Comfortaa"/>
                <a:ea typeface="Comfortaa"/>
                <a:cs typeface="Comfortaa"/>
                <a:sym typeface="Comfortaa"/>
              </a:rPr>
              <a:t>a</a:t>
            </a:r>
            <a:r>
              <a:rPr lang="en" sz="2100">
                <a:latin typeface="Comfortaa"/>
                <a:ea typeface="Comfortaa"/>
                <a:cs typeface="Comfortaa"/>
                <a:sym typeface="Comfortaa"/>
              </a:rPr>
              <a:t>)</a:t>
            </a:r>
            <a:endParaRPr sz="2100">
              <a:latin typeface="Comfortaa"/>
              <a:ea typeface="Comfortaa"/>
              <a:cs typeface="Comfortaa"/>
              <a:sym typeface="Comfortaa"/>
            </a:endParaRPr>
          </a:p>
          <a:p>
            <a:pPr indent="0" lvl="0" marL="0" rtl="0" algn="ctr">
              <a:lnSpc>
                <a:spcPct val="200000"/>
              </a:lnSpc>
              <a:spcBef>
                <a:spcPts val="1200"/>
              </a:spcBef>
              <a:spcAft>
                <a:spcPts val="0"/>
              </a:spcAft>
              <a:buNone/>
            </a:pPr>
            <a:r>
              <a:rPr lang="en" sz="2100">
                <a:latin typeface="Nunito"/>
                <a:ea typeface="Nunito"/>
                <a:cs typeface="Nunito"/>
                <a:sym typeface="Nunito"/>
              </a:rPr>
              <a:t>ε = N(0, 𝝈</a:t>
            </a:r>
            <a:r>
              <a:rPr baseline="30000" lang="en" sz="2100">
                <a:latin typeface="Nunito"/>
                <a:ea typeface="Nunito"/>
                <a:cs typeface="Nunito"/>
                <a:sym typeface="Nunito"/>
              </a:rPr>
              <a:t>2</a:t>
            </a:r>
            <a:r>
              <a:rPr lang="en" sz="2100">
                <a:latin typeface="Nunito"/>
                <a:ea typeface="Nunito"/>
                <a:cs typeface="Nunito"/>
                <a:sym typeface="Nunito"/>
              </a:rPr>
              <a:t>)</a:t>
            </a:r>
            <a:endParaRPr sz="2100">
              <a:latin typeface="Nunito"/>
              <a:ea typeface="Nunito"/>
              <a:cs typeface="Nunito"/>
              <a:sym typeface="Nunito"/>
            </a:endParaRPr>
          </a:p>
          <a:p>
            <a:pPr indent="0" lvl="0" marL="0" rtl="0" algn="ctr">
              <a:lnSpc>
                <a:spcPct val="200000"/>
              </a:lnSpc>
              <a:spcBef>
                <a:spcPts val="1200"/>
              </a:spcBef>
              <a:spcAft>
                <a:spcPts val="1200"/>
              </a:spcAft>
              <a:buNone/>
            </a:pPr>
            <a:r>
              <a:t/>
            </a:r>
            <a:endParaRPr sz="2100">
              <a:latin typeface="Nunito"/>
              <a:ea typeface="Nunito"/>
              <a:cs typeface="Nunito"/>
              <a:sym typeface="Nunito"/>
            </a:endParaRPr>
          </a:p>
        </p:txBody>
      </p:sp>
      <p:sp>
        <p:nvSpPr>
          <p:cNvPr id="185" name="Google Shape;185;p20"/>
          <p:cNvSpPr txBox="1"/>
          <p:nvPr/>
        </p:nvSpPr>
        <p:spPr>
          <a:xfrm>
            <a:off x="5628875" y="2000050"/>
            <a:ext cx="2609700" cy="5409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1200"/>
              </a:spcAft>
              <a:buNone/>
            </a:pPr>
            <a:r>
              <a:rPr lang="en" sz="1000">
                <a:solidFill>
                  <a:schemeClr val="dk2"/>
                </a:solidFill>
                <a:latin typeface="Nunito"/>
                <a:ea typeface="Nunito"/>
                <a:cs typeface="Nunito"/>
                <a:sym typeface="Nunito"/>
              </a:rPr>
              <a:t>Where ɑ</a:t>
            </a:r>
            <a:r>
              <a:rPr baseline="-25000" lang="en" sz="1000">
                <a:solidFill>
                  <a:schemeClr val="dk2"/>
                </a:solidFill>
                <a:latin typeface="Nunito"/>
                <a:ea typeface="Nunito"/>
                <a:cs typeface="Nunito"/>
                <a:sym typeface="Nunito"/>
              </a:rPr>
              <a:t>1 </a:t>
            </a:r>
            <a:r>
              <a:rPr lang="en" sz="1000">
                <a:solidFill>
                  <a:schemeClr val="dk2"/>
                </a:solidFill>
                <a:latin typeface="Nunito"/>
                <a:ea typeface="Nunito"/>
                <a:cs typeface="Nunito"/>
                <a:sym typeface="Nunito"/>
              </a:rPr>
              <a:t>and ɑ</a:t>
            </a:r>
            <a:r>
              <a:rPr baseline="-25000" lang="en" sz="1000">
                <a:solidFill>
                  <a:schemeClr val="dk2"/>
                </a:solidFill>
                <a:latin typeface="Nunito"/>
                <a:ea typeface="Nunito"/>
                <a:cs typeface="Nunito"/>
                <a:sym typeface="Nunito"/>
              </a:rPr>
              <a:t>2</a:t>
            </a:r>
            <a:r>
              <a:rPr lang="en" sz="1000">
                <a:solidFill>
                  <a:schemeClr val="dk2"/>
                </a:solidFill>
                <a:latin typeface="Nunito"/>
                <a:ea typeface="Nunito"/>
                <a:cs typeface="Nunito"/>
                <a:sym typeface="Nunito"/>
              </a:rPr>
              <a:t> are random effect terms and assumed to be normally distributed.</a:t>
            </a:r>
            <a:endParaRPr sz="1000">
              <a:solidFill>
                <a:schemeClr val="dk2"/>
              </a:solidFill>
              <a:latin typeface="Calibri"/>
              <a:ea typeface="Calibri"/>
              <a:cs typeface="Calibri"/>
              <a:sym typeface="Calibri"/>
            </a:endParaRPr>
          </a:p>
        </p:txBody>
      </p:sp>
      <p:pic>
        <p:nvPicPr>
          <p:cNvPr id="186" name="Google Shape;186;p20"/>
          <p:cNvPicPr preferRelativeResize="0"/>
          <p:nvPr/>
        </p:nvPicPr>
        <p:blipFill>
          <a:blip r:embed="rId3">
            <a:alphaModFix/>
          </a:blip>
          <a:stretch>
            <a:fillRect/>
          </a:stretch>
        </p:blipFill>
        <p:spPr>
          <a:xfrm>
            <a:off x="5550800" y="3001025"/>
            <a:ext cx="3091332" cy="1622949"/>
          </a:xfrm>
          <a:prstGeom prst="rect">
            <a:avLst/>
          </a:prstGeom>
          <a:noFill/>
          <a:ln>
            <a:noFill/>
          </a:ln>
        </p:spPr>
      </p:pic>
      <p:pic>
        <p:nvPicPr>
          <p:cNvPr id="187" name="Google Shape;187;p20"/>
          <p:cNvPicPr preferRelativeResize="0"/>
          <p:nvPr/>
        </p:nvPicPr>
        <p:blipFill rotWithShape="1">
          <a:blip r:embed="rId4">
            <a:alphaModFix/>
          </a:blip>
          <a:srcRect b="2133" l="0" r="0" t="0"/>
          <a:stretch/>
        </p:blipFill>
        <p:spPr>
          <a:xfrm>
            <a:off x="415050" y="3208200"/>
            <a:ext cx="4906425" cy="1467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1"/>
          <p:cNvSpPr txBox="1"/>
          <p:nvPr>
            <p:ph type="title"/>
          </p:nvPr>
        </p:nvSpPr>
        <p:spPr>
          <a:xfrm>
            <a:off x="819150" y="572588"/>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 Fitting</a:t>
            </a:r>
            <a:endParaRPr/>
          </a:p>
        </p:txBody>
      </p:sp>
      <p:sp>
        <p:nvSpPr>
          <p:cNvPr id="193" name="Google Shape;193;p21"/>
          <p:cNvSpPr txBox="1"/>
          <p:nvPr>
            <p:ph idx="1" type="body"/>
          </p:nvPr>
        </p:nvSpPr>
        <p:spPr>
          <a:xfrm>
            <a:off x="819150" y="1247033"/>
            <a:ext cx="7505700" cy="3442800"/>
          </a:xfrm>
          <a:prstGeom prst="rect">
            <a:avLst/>
          </a:prstGeom>
        </p:spPr>
        <p:txBody>
          <a:bodyPr anchorCtr="0" anchor="t" bIns="91425" lIns="91425" spcFirstLastPara="1" rIns="91425" wrap="square" tIns="91425">
            <a:normAutofit/>
          </a:bodyPr>
          <a:lstStyle/>
          <a:p>
            <a:pPr indent="-311150" lvl="0" marL="457200" rtl="0" algn="l">
              <a:lnSpc>
                <a:spcPct val="200000"/>
              </a:lnSpc>
              <a:spcBef>
                <a:spcPts val="0"/>
              </a:spcBef>
              <a:spcAft>
                <a:spcPts val="0"/>
              </a:spcAft>
              <a:buSzPts val="1300"/>
              <a:buFont typeface="Nunito"/>
              <a:buAutoNum type="arabicPeriod"/>
            </a:pPr>
            <a:r>
              <a:rPr lang="en">
                <a:latin typeface="Nunito"/>
                <a:ea typeface="Nunito"/>
                <a:cs typeface="Nunito"/>
                <a:sym typeface="Nunito"/>
              </a:rPr>
              <a:t>Created a full linear model with all fixed effects</a:t>
            </a:r>
            <a:endParaRPr>
              <a:latin typeface="Nunito"/>
              <a:ea typeface="Nunito"/>
              <a:cs typeface="Nunito"/>
              <a:sym typeface="Nunito"/>
            </a:endParaRPr>
          </a:p>
          <a:p>
            <a:pPr indent="-311150" lvl="0" marL="457200" rtl="0" algn="l">
              <a:lnSpc>
                <a:spcPct val="200000"/>
              </a:lnSpc>
              <a:spcBef>
                <a:spcPts val="0"/>
              </a:spcBef>
              <a:spcAft>
                <a:spcPts val="0"/>
              </a:spcAft>
              <a:buSzPts val="1300"/>
              <a:buFont typeface="Nunito"/>
              <a:buAutoNum type="arabicPeriod"/>
            </a:pPr>
            <a:r>
              <a:rPr lang="en">
                <a:latin typeface="Nunito"/>
                <a:ea typeface="Nunito"/>
                <a:cs typeface="Nunito"/>
                <a:sym typeface="Nunito"/>
              </a:rPr>
              <a:t>Added the two random effects we considered</a:t>
            </a:r>
            <a:endParaRPr>
              <a:latin typeface="Nunito"/>
              <a:ea typeface="Nunito"/>
              <a:cs typeface="Nunito"/>
              <a:sym typeface="Nunito"/>
            </a:endParaRPr>
          </a:p>
          <a:p>
            <a:pPr indent="-311150" lvl="0" marL="457200" rtl="0" algn="l">
              <a:lnSpc>
                <a:spcPct val="200000"/>
              </a:lnSpc>
              <a:spcBef>
                <a:spcPts val="0"/>
              </a:spcBef>
              <a:spcAft>
                <a:spcPts val="0"/>
              </a:spcAft>
              <a:buSzPts val="1300"/>
              <a:buFont typeface="Nunito"/>
              <a:buAutoNum type="arabicPeriod"/>
            </a:pPr>
            <a:r>
              <a:rPr lang="en">
                <a:latin typeface="Nunito"/>
                <a:ea typeface="Nunito"/>
                <a:cs typeface="Nunito"/>
                <a:sym typeface="Nunito"/>
              </a:rPr>
              <a:t>Removed one fixed effect and compared the reduced model to the full model using F-tests with the Kenward-Roger (KRmodcomp) method.</a:t>
            </a:r>
            <a:endParaRPr>
              <a:latin typeface="Nunito"/>
              <a:ea typeface="Nunito"/>
              <a:cs typeface="Nunito"/>
              <a:sym typeface="Nunito"/>
            </a:endParaRPr>
          </a:p>
          <a:p>
            <a:pPr indent="-298450" lvl="1" marL="914400" rtl="0" algn="l">
              <a:lnSpc>
                <a:spcPct val="200000"/>
              </a:lnSpc>
              <a:spcBef>
                <a:spcPts val="0"/>
              </a:spcBef>
              <a:spcAft>
                <a:spcPts val="0"/>
              </a:spcAft>
              <a:buSzPts val="1100"/>
              <a:buFont typeface="Nunito"/>
              <a:buChar char="○"/>
            </a:pPr>
            <a:r>
              <a:rPr lang="en">
                <a:latin typeface="Nunito"/>
                <a:ea typeface="Nunito"/>
                <a:cs typeface="Nunito"/>
                <a:sym typeface="Nunito"/>
              </a:rPr>
              <a:t>If significant, then the fixed effect is significant to </a:t>
            </a:r>
            <a:r>
              <a:rPr lang="en">
                <a:latin typeface="Nunito"/>
                <a:ea typeface="Nunito"/>
                <a:cs typeface="Nunito"/>
                <a:sym typeface="Nunito"/>
              </a:rPr>
              <a:t>the</a:t>
            </a:r>
            <a:r>
              <a:rPr lang="en">
                <a:latin typeface="Nunito"/>
                <a:ea typeface="Nunito"/>
                <a:cs typeface="Nunito"/>
                <a:sym typeface="Nunito"/>
              </a:rPr>
              <a:t> model </a:t>
            </a:r>
            <a:r>
              <a:rPr lang="en">
                <a:latin typeface="Nunito"/>
                <a:ea typeface="Nunito"/>
                <a:cs typeface="Nunito"/>
                <a:sym typeface="Nunito"/>
              </a:rPr>
              <a:t>and</a:t>
            </a:r>
            <a:r>
              <a:rPr lang="en">
                <a:latin typeface="Nunito"/>
                <a:ea typeface="Nunito"/>
                <a:cs typeface="Nunito"/>
                <a:sym typeface="Nunito"/>
              </a:rPr>
              <a:t> should be included.</a:t>
            </a:r>
            <a:endParaRPr>
              <a:latin typeface="Nunito"/>
              <a:ea typeface="Nunito"/>
              <a:cs typeface="Nunito"/>
              <a:sym typeface="Nunito"/>
            </a:endParaRPr>
          </a:p>
          <a:p>
            <a:pPr indent="-298450" lvl="1" marL="914400" rtl="0" algn="l">
              <a:lnSpc>
                <a:spcPct val="200000"/>
              </a:lnSpc>
              <a:spcBef>
                <a:spcPts val="0"/>
              </a:spcBef>
              <a:spcAft>
                <a:spcPts val="0"/>
              </a:spcAft>
              <a:buSzPts val="1100"/>
              <a:buFont typeface="Nunito"/>
              <a:buChar char="○"/>
            </a:pPr>
            <a:r>
              <a:rPr lang="en">
                <a:latin typeface="Nunito"/>
                <a:ea typeface="Nunito"/>
                <a:cs typeface="Nunito"/>
                <a:sym typeface="Nunito"/>
              </a:rPr>
              <a:t>Repeated for each of the 6 fixed effect variables.</a:t>
            </a:r>
            <a:endParaRPr>
              <a:latin typeface="Nunito"/>
              <a:ea typeface="Nunito"/>
              <a:cs typeface="Nunito"/>
              <a:sym typeface="Nunito"/>
            </a:endParaRPr>
          </a:p>
          <a:p>
            <a:pPr indent="-298450" lvl="1" marL="914400" rtl="0" algn="l">
              <a:lnSpc>
                <a:spcPct val="200000"/>
              </a:lnSpc>
              <a:spcBef>
                <a:spcPts val="0"/>
              </a:spcBef>
              <a:spcAft>
                <a:spcPts val="0"/>
              </a:spcAft>
              <a:buSzPts val="1100"/>
              <a:buFont typeface="Nunito"/>
              <a:buChar char="○"/>
            </a:pPr>
            <a:r>
              <a:rPr lang="en">
                <a:latin typeface="Nunito"/>
                <a:ea typeface="Nunito"/>
                <a:cs typeface="Nunito"/>
                <a:sym typeface="Nunito"/>
              </a:rPr>
              <a:t>Discovered Age was the only variable </a:t>
            </a:r>
            <a:r>
              <a:rPr lang="en">
                <a:latin typeface="Nunito"/>
                <a:ea typeface="Nunito"/>
                <a:cs typeface="Nunito"/>
                <a:sym typeface="Nunito"/>
              </a:rPr>
              <a:t>insignificant</a:t>
            </a:r>
            <a:r>
              <a:rPr lang="en">
                <a:latin typeface="Nunito"/>
                <a:ea typeface="Nunito"/>
                <a:cs typeface="Nunito"/>
                <a:sym typeface="Nunito"/>
              </a:rPr>
              <a:t> to our model.</a:t>
            </a:r>
            <a:endParaRPr>
              <a:latin typeface="Nunito"/>
              <a:ea typeface="Nunito"/>
              <a:cs typeface="Nunito"/>
              <a:sym typeface="Nuni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2"/>
          <p:cNvSpPr txBox="1"/>
          <p:nvPr>
            <p:ph type="title"/>
          </p:nvPr>
        </p:nvSpPr>
        <p:spPr>
          <a:xfrm>
            <a:off x="819150" y="688875"/>
            <a:ext cx="7505700" cy="57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Goodness of Fit</a:t>
            </a:r>
            <a:endParaRPr/>
          </a:p>
        </p:txBody>
      </p:sp>
      <p:sp>
        <p:nvSpPr>
          <p:cNvPr id="199" name="Google Shape;199;p22"/>
          <p:cNvSpPr txBox="1"/>
          <p:nvPr>
            <p:ph idx="1" type="body"/>
          </p:nvPr>
        </p:nvSpPr>
        <p:spPr>
          <a:xfrm>
            <a:off x="819150" y="1449417"/>
            <a:ext cx="7505700" cy="2448000"/>
          </a:xfrm>
          <a:prstGeom prst="rect">
            <a:avLst/>
          </a:prstGeom>
        </p:spPr>
        <p:txBody>
          <a:bodyPr anchorCtr="0" anchor="t" bIns="91425" lIns="91425" spcFirstLastPara="1" rIns="91425" wrap="square" tIns="91425">
            <a:noAutofit/>
          </a:bodyPr>
          <a:lstStyle/>
          <a:p>
            <a:pPr indent="-311150" lvl="0" marL="457200" rtl="0" algn="l">
              <a:lnSpc>
                <a:spcPct val="200000"/>
              </a:lnSpc>
              <a:spcBef>
                <a:spcPts val="0"/>
              </a:spcBef>
              <a:spcAft>
                <a:spcPts val="0"/>
              </a:spcAft>
              <a:buSzPts val="1300"/>
              <a:buChar char="●"/>
            </a:pPr>
            <a:r>
              <a:rPr lang="en"/>
              <a:t>Used exactRLRT() to test for significance of Platform and Emotion random effects</a:t>
            </a:r>
            <a:endParaRPr/>
          </a:p>
          <a:p>
            <a:pPr indent="-311150" lvl="0" marL="457200" rtl="0" algn="l">
              <a:lnSpc>
                <a:spcPct val="200000"/>
              </a:lnSpc>
              <a:spcBef>
                <a:spcPts val="0"/>
              </a:spcBef>
              <a:spcAft>
                <a:spcPts val="0"/>
              </a:spcAft>
              <a:buSzPts val="1300"/>
              <a:buChar char="●"/>
            </a:pPr>
            <a:r>
              <a:rPr lang="en"/>
              <a:t>Platform RLRT:  118.23</a:t>
            </a:r>
            <a:endParaRPr/>
          </a:p>
          <a:p>
            <a:pPr indent="-311150" lvl="0" marL="457200" rtl="0" algn="l">
              <a:lnSpc>
                <a:spcPct val="200000"/>
              </a:lnSpc>
              <a:spcBef>
                <a:spcPts val="0"/>
              </a:spcBef>
              <a:spcAft>
                <a:spcPts val="0"/>
              </a:spcAft>
              <a:buSzPts val="1300"/>
              <a:buChar char="●"/>
            </a:pPr>
            <a:r>
              <a:rPr lang="en"/>
              <a:t>Emotion RLRT: 37.908</a:t>
            </a:r>
            <a:endParaRPr/>
          </a:p>
          <a:p>
            <a:pPr indent="-311150" lvl="0" marL="457200" rtl="0" algn="l">
              <a:lnSpc>
                <a:spcPct val="200000"/>
              </a:lnSpc>
              <a:spcBef>
                <a:spcPts val="0"/>
              </a:spcBef>
              <a:spcAft>
                <a:spcPts val="0"/>
              </a:spcAft>
              <a:buSzPts val="1300"/>
              <a:buChar char="●"/>
            </a:pPr>
            <a:r>
              <a:rPr lang="en"/>
              <a:t>Both have p-values of 0</a:t>
            </a:r>
            <a:endParaRPr/>
          </a:p>
          <a:p>
            <a:pPr indent="-311150" lvl="0" marL="457200" rtl="0" algn="l">
              <a:lnSpc>
                <a:spcPct val="200000"/>
              </a:lnSpc>
              <a:spcBef>
                <a:spcPts val="0"/>
              </a:spcBef>
              <a:spcAft>
                <a:spcPts val="0"/>
              </a:spcAft>
              <a:buSzPts val="1300"/>
              <a:buChar char="●"/>
            </a:pPr>
            <a:r>
              <a:rPr lang="en"/>
              <a:t>Two </a:t>
            </a:r>
            <a:r>
              <a:rPr lang="en"/>
              <a:t>significant</a:t>
            </a:r>
            <a:r>
              <a:rPr lang="en"/>
              <a:t> random effect terms</a:t>
            </a:r>
            <a:endParaRPr/>
          </a:p>
        </p:txBody>
      </p:sp>
      <p:pic>
        <p:nvPicPr>
          <p:cNvPr id="200" name="Google Shape;200;p22"/>
          <p:cNvPicPr preferRelativeResize="0"/>
          <p:nvPr/>
        </p:nvPicPr>
        <p:blipFill>
          <a:blip r:embed="rId3">
            <a:alphaModFix/>
          </a:blip>
          <a:stretch>
            <a:fillRect/>
          </a:stretch>
        </p:blipFill>
        <p:spPr>
          <a:xfrm>
            <a:off x="4499370" y="1989974"/>
            <a:ext cx="4044101" cy="25283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3"/>
          <p:cNvSpPr txBox="1"/>
          <p:nvPr>
            <p:ph type="title"/>
          </p:nvPr>
        </p:nvSpPr>
        <p:spPr>
          <a:xfrm>
            <a:off x="819150" y="603400"/>
            <a:ext cx="7505700" cy="693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Why Use Random Effects?</a:t>
            </a:r>
            <a:endParaRPr/>
          </a:p>
        </p:txBody>
      </p:sp>
      <p:sp>
        <p:nvSpPr>
          <p:cNvPr id="206" name="Google Shape;206;p23"/>
          <p:cNvSpPr txBox="1"/>
          <p:nvPr>
            <p:ph idx="1" type="body"/>
          </p:nvPr>
        </p:nvSpPr>
        <p:spPr>
          <a:xfrm>
            <a:off x="819150" y="1493975"/>
            <a:ext cx="7505700" cy="1897200"/>
          </a:xfrm>
          <a:prstGeom prst="rect">
            <a:avLst/>
          </a:prstGeom>
        </p:spPr>
        <p:txBody>
          <a:bodyPr anchorCtr="0" anchor="t" bIns="91425" lIns="91425" spcFirstLastPara="1" rIns="91425" wrap="square" tIns="91425">
            <a:normAutofit lnSpcReduction="10000"/>
          </a:bodyPr>
          <a:lstStyle/>
          <a:p>
            <a:pPr indent="-311150" lvl="0" marL="457200" rtl="0" algn="l">
              <a:lnSpc>
                <a:spcPct val="200000"/>
              </a:lnSpc>
              <a:spcBef>
                <a:spcPts val="0"/>
              </a:spcBef>
              <a:spcAft>
                <a:spcPts val="0"/>
              </a:spcAft>
              <a:buSzPts val="1300"/>
              <a:buChar char="●"/>
            </a:pPr>
            <a:r>
              <a:rPr lang="en"/>
              <a:t>Emotion can be hard to quantify</a:t>
            </a:r>
            <a:endParaRPr/>
          </a:p>
          <a:p>
            <a:pPr indent="-311150" lvl="0" marL="457200" rtl="0" algn="l">
              <a:lnSpc>
                <a:spcPct val="200000"/>
              </a:lnSpc>
              <a:spcBef>
                <a:spcPts val="0"/>
              </a:spcBef>
              <a:spcAft>
                <a:spcPts val="0"/>
              </a:spcAft>
              <a:buSzPts val="1300"/>
              <a:buChar char="●"/>
            </a:pPr>
            <a:r>
              <a:rPr lang="en"/>
              <a:t>Other options than those given (Jealousy, Excited, Stressed) or (TikTok, Hinge, YikYak)</a:t>
            </a:r>
            <a:endParaRPr/>
          </a:p>
          <a:p>
            <a:pPr indent="-311150" lvl="0" marL="457200" rtl="0" algn="l">
              <a:lnSpc>
                <a:spcPct val="200000"/>
              </a:lnSpc>
              <a:spcBef>
                <a:spcPts val="0"/>
              </a:spcBef>
              <a:spcAft>
                <a:spcPts val="0"/>
              </a:spcAft>
              <a:buSzPts val="1300"/>
              <a:buChar char="●"/>
            </a:pPr>
            <a:r>
              <a:rPr lang="en"/>
              <a:t>Can be a combination of the options</a:t>
            </a:r>
            <a:endParaRPr/>
          </a:p>
          <a:p>
            <a:pPr indent="-311150" lvl="0" marL="457200" rtl="0" algn="l">
              <a:lnSpc>
                <a:spcPct val="200000"/>
              </a:lnSpc>
              <a:spcBef>
                <a:spcPts val="0"/>
              </a:spcBef>
              <a:spcAft>
                <a:spcPts val="0"/>
              </a:spcAft>
              <a:buSzPts val="1300"/>
              <a:buChar char="●"/>
            </a:pPr>
            <a:r>
              <a:rPr lang="en"/>
              <a:t>Could suffer from response bias</a:t>
            </a:r>
            <a:endParaRPr/>
          </a:p>
          <a:p>
            <a:pPr indent="-311150" lvl="0" marL="457200" rtl="0" algn="l">
              <a:lnSpc>
                <a:spcPct val="200000"/>
              </a:lnSpc>
              <a:spcBef>
                <a:spcPts val="0"/>
              </a:spcBef>
              <a:spcAft>
                <a:spcPts val="0"/>
              </a:spcAft>
              <a:buSzPts val="1300"/>
              <a:buChar char="●"/>
            </a:pPr>
            <a:r>
              <a:rPr lang="en"/>
              <a:t>Certain platforms can yield certain responses, should account for that</a:t>
            </a:r>
            <a:endParaRPr/>
          </a:p>
        </p:txBody>
      </p:sp>
      <p:pic>
        <p:nvPicPr>
          <p:cNvPr descr="Human feelings vector infographic template (Provided by Getty Images)" id="207" name="Google Shape;207;p23"/>
          <p:cNvPicPr preferRelativeResize="0"/>
          <p:nvPr/>
        </p:nvPicPr>
        <p:blipFill>
          <a:blip r:embed="rId3">
            <a:alphaModFix/>
          </a:blip>
          <a:stretch>
            <a:fillRect/>
          </a:stretch>
        </p:blipFill>
        <p:spPr>
          <a:xfrm>
            <a:off x="6041973" y="3428986"/>
            <a:ext cx="2216525" cy="1380999"/>
          </a:xfrm>
          <a:prstGeom prst="rect">
            <a:avLst/>
          </a:prstGeom>
          <a:noFill/>
          <a:ln>
            <a:noFill/>
          </a:ln>
        </p:spPr>
      </p:pic>
      <p:pic>
        <p:nvPicPr>
          <p:cNvPr descr="Positive and negative emotions abstract concept vector illustrations. (Provided by Getty Images)" id="208" name="Google Shape;208;p23"/>
          <p:cNvPicPr preferRelativeResize="0"/>
          <p:nvPr/>
        </p:nvPicPr>
        <p:blipFill rotWithShape="1">
          <a:blip r:embed="rId4">
            <a:alphaModFix/>
          </a:blip>
          <a:srcRect b="0" l="0" r="0" t="0"/>
          <a:stretch/>
        </p:blipFill>
        <p:spPr>
          <a:xfrm>
            <a:off x="819152" y="3391183"/>
            <a:ext cx="3397652" cy="145661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14" name="Google Shape;214;p24"/>
          <p:cNvPicPr preferRelativeResize="0"/>
          <p:nvPr/>
        </p:nvPicPr>
        <p:blipFill>
          <a:blip r:embed="rId3">
            <a:alphaModFix/>
          </a:blip>
          <a:stretch>
            <a:fillRect/>
          </a:stretch>
        </p:blipFill>
        <p:spPr>
          <a:xfrm>
            <a:off x="1339325" y="760850"/>
            <a:ext cx="6678524" cy="4009251"/>
          </a:xfrm>
          <a:prstGeom prst="rect">
            <a:avLst/>
          </a:prstGeom>
          <a:noFill/>
          <a:ln>
            <a:noFill/>
          </a:ln>
        </p:spPr>
      </p:pic>
      <p:pic>
        <p:nvPicPr>
          <p:cNvPr id="215" name="Google Shape;215;p24"/>
          <p:cNvPicPr preferRelativeResize="0"/>
          <p:nvPr/>
        </p:nvPicPr>
        <p:blipFill>
          <a:blip r:embed="rId4">
            <a:alphaModFix/>
          </a:blip>
          <a:stretch>
            <a:fillRect/>
          </a:stretch>
        </p:blipFill>
        <p:spPr>
          <a:xfrm>
            <a:off x="402375" y="978937"/>
            <a:ext cx="5948876" cy="3719150"/>
          </a:xfrm>
          <a:prstGeom prst="rect">
            <a:avLst/>
          </a:prstGeom>
          <a:noFill/>
          <a:ln>
            <a:noFill/>
          </a:ln>
        </p:spPr>
      </p:pic>
      <p:pic>
        <p:nvPicPr>
          <p:cNvPr id="216" name="Google Shape;216;p24"/>
          <p:cNvPicPr preferRelativeResize="0"/>
          <p:nvPr/>
        </p:nvPicPr>
        <p:blipFill>
          <a:blip r:embed="rId5">
            <a:alphaModFix/>
          </a:blip>
          <a:stretch>
            <a:fillRect/>
          </a:stretch>
        </p:blipFill>
        <p:spPr>
          <a:xfrm>
            <a:off x="1480550" y="454375"/>
            <a:ext cx="6773575" cy="4234750"/>
          </a:xfrm>
          <a:prstGeom prst="rect">
            <a:avLst/>
          </a:prstGeom>
          <a:noFill/>
          <a:ln>
            <a:noFill/>
          </a:ln>
        </p:spPr>
      </p:pic>
      <p:sp>
        <p:nvSpPr>
          <p:cNvPr id="217" name="Google Shape;217;p24"/>
          <p:cNvSpPr txBox="1"/>
          <p:nvPr>
            <p:ph type="title"/>
          </p:nvPr>
        </p:nvSpPr>
        <p:spPr>
          <a:xfrm>
            <a:off x="402375" y="372675"/>
            <a:ext cx="7505700" cy="698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Diagnostics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21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21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5"/>
          <p:cNvSpPr txBox="1"/>
          <p:nvPr>
            <p:ph type="title"/>
          </p:nvPr>
        </p:nvSpPr>
        <p:spPr>
          <a:xfrm>
            <a:off x="819150" y="47515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Margin of Error</a:t>
            </a:r>
            <a:endParaRPr/>
          </a:p>
        </p:txBody>
      </p:sp>
      <p:sp>
        <p:nvSpPr>
          <p:cNvPr id="223" name="Google Shape;223;p25"/>
          <p:cNvSpPr txBox="1"/>
          <p:nvPr>
            <p:ph idx="1" type="body"/>
          </p:nvPr>
        </p:nvSpPr>
        <p:spPr>
          <a:xfrm>
            <a:off x="819150" y="1203950"/>
            <a:ext cx="3686100" cy="32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Fixed-effect MOEs:</a:t>
            </a:r>
            <a:endParaRPr b="1"/>
          </a:p>
          <a:p>
            <a:pPr indent="0" lvl="0" marL="0" rtl="0" algn="l">
              <a:spcBef>
                <a:spcPts val="1200"/>
              </a:spcBef>
              <a:spcAft>
                <a:spcPts val="0"/>
              </a:spcAft>
              <a:buNone/>
            </a:pPr>
            <a:r>
              <a:rPr lang="en"/>
              <a:t>Intercept (Female): 6.68</a:t>
            </a:r>
            <a:endParaRPr/>
          </a:p>
          <a:p>
            <a:pPr indent="0" lvl="0" marL="0" rtl="0" algn="l">
              <a:spcBef>
                <a:spcPts val="1200"/>
              </a:spcBef>
              <a:spcAft>
                <a:spcPts val="0"/>
              </a:spcAft>
              <a:buNone/>
            </a:pPr>
            <a:r>
              <a:rPr lang="en"/>
              <a:t>Gender1 (Male): 1.14</a:t>
            </a:r>
            <a:endParaRPr/>
          </a:p>
          <a:p>
            <a:pPr indent="0" lvl="0" marL="0" rtl="0" algn="l">
              <a:spcBef>
                <a:spcPts val="1200"/>
              </a:spcBef>
              <a:spcAft>
                <a:spcPts val="0"/>
              </a:spcAft>
              <a:buNone/>
            </a:pPr>
            <a:r>
              <a:rPr lang="en"/>
              <a:t>Gender2 (Non-Binary): 1.09</a:t>
            </a:r>
            <a:endParaRPr/>
          </a:p>
          <a:p>
            <a:pPr indent="0" lvl="0" marL="0" rtl="0" algn="l">
              <a:spcBef>
                <a:spcPts val="1200"/>
              </a:spcBef>
              <a:spcAft>
                <a:spcPts val="0"/>
              </a:spcAft>
              <a:buNone/>
            </a:pPr>
            <a:r>
              <a:rPr lang="en"/>
              <a:t>Posts Per Day: 0.92</a:t>
            </a:r>
            <a:endParaRPr/>
          </a:p>
          <a:p>
            <a:pPr indent="0" lvl="0" marL="0" rtl="0" algn="l">
              <a:spcBef>
                <a:spcPts val="1200"/>
              </a:spcBef>
              <a:spcAft>
                <a:spcPts val="0"/>
              </a:spcAft>
              <a:buNone/>
            </a:pPr>
            <a:r>
              <a:rPr lang="en"/>
              <a:t>Likes Received Per Day: 0.11</a:t>
            </a:r>
            <a:endParaRPr/>
          </a:p>
          <a:p>
            <a:pPr indent="0" lvl="0" marL="0" rtl="0" algn="l">
              <a:spcBef>
                <a:spcPts val="1200"/>
              </a:spcBef>
              <a:spcAft>
                <a:spcPts val="0"/>
              </a:spcAft>
              <a:buNone/>
            </a:pPr>
            <a:r>
              <a:rPr lang="en"/>
              <a:t>Messages Sent Per Day: 0.21</a:t>
            </a:r>
            <a:endParaRPr/>
          </a:p>
          <a:p>
            <a:pPr indent="0" lvl="0" marL="0" rtl="0" algn="l">
              <a:spcBef>
                <a:spcPts val="1200"/>
              </a:spcBef>
              <a:spcAft>
                <a:spcPts val="1200"/>
              </a:spcAft>
              <a:buNone/>
            </a:pPr>
            <a:r>
              <a:rPr lang="en"/>
              <a:t>Comments Received Per Day: 0.26</a:t>
            </a:r>
            <a:endParaRPr/>
          </a:p>
        </p:txBody>
      </p:sp>
      <p:sp>
        <p:nvSpPr>
          <p:cNvPr id="224" name="Google Shape;224;p25"/>
          <p:cNvSpPr txBox="1"/>
          <p:nvPr>
            <p:ph idx="2" type="body"/>
          </p:nvPr>
        </p:nvSpPr>
        <p:spPr>
          <a:xfrm>
            <a:off x="4638675" y="1203825"/>
            <a:ext cx="3686100" cy="32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Random effects MOEs (Standard deviations):</a:t>
            </a:r>
            <a:endParaRPr b="1"/>
          </a:p>
          <a:p>
            <a:pPr indent="0" lvl="0" marL="0" rtl="0" algn="l">
              <a:spcBef>
                <a:spcPts val="1200"/>
              </a:spcBef>
              <a:spcAft>
                <a:spcPts val="0"/>
              </a:spcAft>
              <a:buNone/>
            </a:pPr>
            <a:r>
              <a:rPr lang="en"/>
              <a:t>Platform: 4.17</a:t>
            </a:r>
            <a:endParaRPr/>
          </a:p>
          <a:p>
            <a:pPr indent="0" lvl="0" marL="0" rtl="0" algn="l">
              <a:spcBef>
                <a:spcPts val="1200"/>
              </a:spcBef>
              <a:spcAft>
                <a:spcPts val="0"/>
              </a:spcAft>
              <a:buNone/>
            </a:pPr>
            <a:r>
              <a:rPr lang="en"/>
              <a:t>Dominant Emotion: 2.59</a:t>
            </a:r>
            <a:endParaRPr/>
          </a:p>
          <a:p>
            <a:pPr indent="0" lvl="0" marL="0" rtl="0" algn="l">
              <a:spcBef>
                <a:spcPts val="1200"/>
              </a:spcBef>
              <a:spcAft>
                <a:spcPts val="0"/>
              </a:spcAft>
              <a:buNone/>
            </a:pPr>
            <a:r>
              <a:rPr lang="en"/>
              <a:t>Residual: 0.49</a:t>
            </a:r>
            <a:endParaRPr/>
          </a:p>
          <a:p>
            <a:pPr indent="0" lvl="0" marL="0" rtl="0" algn="l">
              <a:spcBef>
                <a:spcPts val="1200"/>
              </a:spcBef>
              <a:spcAft>
                <a:spcPts val="0"/>
              </a:spcAft>
              <a:buNone/>
            </a:pPr>
            <a:r>
              <a:rPr b="1" lang="en"/>
              <a:t>Confidence Intervals</a:t>
            </a:r>
            <a:r>
              <a:rPr b="1" lang="en"/>
              <a:t>:</a:t>
            </a:r>
            <a:endParaRPr b="1"/>
          </a:p>
          <a:p>
            <a:pPr indent="0" lvl="0" marL="0" rtl="0" algn="l">
              <a:spcBef>
                <a:spcPts val="1200"/>
              </a:spcBef>
              <a:spcAft>
                <a:spcPts val="1200"/>
              </a:spcAft>
              <a:buNone/>
            </a:pPr>
            <a:r>
              <a:t/>
            </a:r>
            <a:endParaRPr/>
          </a:p>
        </p:txBody>
      </p:sp>
      <p:pic>
        <p:nvPicPr>
          <p:cNvPr id="225" name="Google Shape;225;p25"/>
          <p:cNvPicPr preferRelativeResize="0"/>
          <p:nvPr/>
        </p:nvPicPr>
        <p:blipFill>
          <a:blip r:embed="rId3">
            <a:alphaModFix/>
          </a:blip>
          <a:stretch>
            <a:fillRect/>
          </a:stretch>
        </p:blipFill>
        <p:spPr>
          <a:xfrm>
            <a:off x="4784225" y="3081025"/>
            <a:ext cx="3395000" cy="15945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6"/>
          <p:cNvSpPr txBox="1"/>
          <p:nvPr>
            <p:ph type="title"/>
          </p:nvPr>
        </p:nvSpPr>
        <p:spPr>
          <a:xfrm>
            <a:off x="819150" y="5393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Interpretation</a:t>
            </a:r>
            <a:endParaRPr/>
          </a:p>
        </p:txBody>
      </p:sp>
      <p:sp>
        <p:nvSpPr>
          <p:cNvPr id="231" name="Google Shape;231;p26"/>
          <p:cNvSpPr txBox="1"/>
          <p:nvPr>
            <p:ph idx="1" type="body"/>
          </p:nvPr>
        </p:nvSpPr>
        <p:spPr>
          <a:xfrm>
            <a:off x="819150" y="1183500"/>
            <a:ext cx="3753000" cy="297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Interpretation of Fixed Effects:</a:t>
            </a:r>
            <a:endParaRPr sz="1500"/>
          </a:p>
          <a:p>
            <a:pPr indent="-311150" lvl="0" marL="457200" rtl="0" algn="l">
              <a:spcBef>
                <a:spcPts val="1200"/>
              </a:spcBef>
              <a:spcAft>
                <a:spcPts val="0"/>
              </a:spcAft>
              <a:buSzPts val="1300"/>
              <a:buChar char="●"/>
            </a:pPr>
            <a:r>
              <a:rPr b="1" lang="en">
                <a:solidFill>
                  <a:srgbClr val="000000"/>
                </a:solidFill>
              </a:rPr>
              <a:t>Gender:</a:t>
            </a:r>
            <a:br>
              <a:rPr b="1" lang="en">
                <a:solidFill>
                  <a:srgbClr val="000000"/>
                </a:solidFill>
              </a:rPr>
            </a:br>
            <a:r>
              <a:rPr lang="en">
                <a:solidFill>
                  <a:srgbClr val="000000"/>
                </a:solidFill>
              </a:rPr>
              <a:t>Significant— Women tended to use social media longer per day.</a:t>
            </a:r>
            <a:br>
              <a:rPr lang="en">
                <a:solidFill>
                  <a:srgbClr val="000000"/>
                </a:solidFill>
              </a:rPr>
            </a:br>
            <a:endParaRPr>
              <a:solidFill>
                <a:srgbClr val="000000"/>
              </a:solidFill>
            </a:endParaRPr>
          </a:p>
          <a:p>
            <a:pPr indent="-311150" lvl="0" marL="457200" rtl="0" algn="l">
              <a:spcBef>
                <a:spcPts val="0"/>
              </a:spcBef>
              <a:spcAft>
                <a:spcPts val="0"/>
              </a:spcAft>
              <a:buSzPts val="1300"/>
              <a:buChar char="●"/>
            </a:pPr>
            <a:r>
              <a:rPr b="1" lang="en">
                <a:solidFill>
                  <a:srgbClr val="000000"/>
                </a:solidFill>
              </a:rPr>
              <a:t>Age:</a:t>
            </a:r>
            <a:br>
              <a:rPr b="1" lang="en">
                <a:solidFill>
                  <a:srgbClr val="000000"/>
                </a:solidFill>
              </a:rPr>
            </a:br>
            <a:r>
              <a:rPr lang="en">
                <a:solidFill>
                  <a:srgbClr val="000000"/>
                </a:solidFill>
              </a:rPr>
              <a:t>Small negative association with minutes spent per day.</a:t>
            </a:r>
            <a:br>
              <a:rPr lang="en">
                <a:solidFill>
                  <a:srgbClr val="000000"/>
                </a:solidFill>
              </a:rPr>
            </a:br>
            <a:endParaRPr>
              <a:solidFill>
                <a:srgbClr val="000000"/>
              </a:solidFill>
            </a:endParaRPr>
          </a:p>
          <a:p>
            <a:pPr indent="-311150" lvl="0" marL="457200" rtl="0" algn="l">
              <a:spcBef>
                <a:spcPts val="0"/>
              </a:spcBef>
              <a:spcAft>
                <a:spcPts val="0"/>
              </a:spcAft>
              <a:buSzPts val="1300"/>
              <a:buChar char="●"/>
            </a:pPr>
            <a:r>
              <a:rPr b="1" lang="en">
                <a:solidFill>
                  <a:srgbClr val="000000"/>
                </a:solidFill>
              </a:rPr>
              <a:t>Posts, Likes, Comments, Messages:</a:t>
            </a:r>
            <a:br>
              <a:rPr b="1" lang="en">
                <a:solidFill>
                  <a:srgbClr val="000000"/>
                </a:solidFill>
              </a:rPr>
            </a:br>
            <a:r>
              <a:rPr lang="en">
                <a:solidFill>
                  <a:srgbClr val="000000"/>
                </a:solidFill>
              </a:rPr>
              <a:t>All are strong, significant, positive predictors.</a:t>
            </a:r>
            <a:br>
              <a:rPr lang="en">
                <a:solidFill>
                  <a:srgbClr val="000000"/>
                </a:solidFill>
              </a:rPr>
            </a:br>
            <a:r>
              <a:rPr lang="en">
                <a:solidFill>
                  <a:srgbClr val="000000"/>
                </a:solidFill>
              </a:rPr>
              <a:t> Engaging more (posting, liking, messaging) means more daily screen time</a:t>
            </a:r>
            <a:endParaRPr/>
          </a:p>
        </p:txBody>
      </p:sp>
      <p:sp>
        <p:nvSpPr>
          <p:cNvPr id="232" name="Google Shape;232;p26"/>
          <p:cNvSpPr txBox="1"/>
          <p:nvPr>
            <p:ph idx="1" type="body"/>
          </p:nvPr>
        </p:nvSpPr>
        <p:spPr>
          <a:xfrm>
            <a:off x="4572000" y="1183500"/>
            <a:ext cx="3753000" cy="297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Interpretation of Random Effects:</a:t>
            </a:r>
            <a:endParaRPr sz="1400"/>
          </a:p>
          <a:p>
            <a:pPr indent="-317500" lvl="0" marL="457200" rtl="0" algn="l">
              <a:spcBef>
                <a:spcPts val="1200"/>
              </a:spcBef>
              <a:spcAft>
                <a:spcPts val="0"/>
              </a:spcAft>
              <a:buSzPts val="1400"/>
              <a:buChar char="●"/>
            </a:pPr>
            <a:r>
              <a:rPr b="1" lang="en" sz="1400">
                <a:solidFill>
                  <a:srgbClr val="000000"/>
                </a:solidFill>
              </a:rPr>
              <a:t>Platform:</a:t>
            </a:r>
            <a:br>
              <a:rPr b="1" lang="en" sz="1400">
                <a:solidFill>
                  <a:srgbClr val="000000"/>
                </a:solidFill>
              </a:rPr>
            </a:br>
            <a:r>
              <a:rPr lang="en" sz="1400">
                <a:solidFill>
                  <a:srgbClr val="000000"/>
                </a:solidFill>
              </a:rPr>
              <a:t>Some platforms have much higher baseline usage (e.g., Instagram). 			Others show lower usage (e.g., LinkedIn).</a:t>
            </a:r>
            <a:br>
              <a:rPr lang="en" sz="1400">
                <a:solidFill>
                  <a:srgbClr val="000000"/>
                </a:solidFill>
              </a:rPr>
            </a:br>
            <a:endParaRPr sz="1400">
              <a:solidFill>
                <a:srgbClr val="000000"/>
              </a:solidFill>
            </a:endParaRPr>
          </a:p>
          <a:p>
            <a:pPr indent="-317500" lvl="0" marL="457200" rtl="0" algn="l">
              <a:spcBef>
                <a:spcPts val="0"/>
              </a:spcBef>
              <a:spcAft>
                <a:spcPts val="0"/>
              </a:spcAft>
              <a:buSzPts val="1400"/>
              <a:buChar char="●"/>
            </a:pPr>
            <a:r>
              <a:rPr b="1" lang="en" sz="1400">
                <a:solidFill>
                  <a:srgbClr val="000000"/>
                </a:solidFill>
              </a:rPr>
              <a:t>Dominant Emotion:			</a:t>
            </a:r>
            <a:r>
              <a:rPr lang="en" sz="1400">
                <a:solidFill>
                  <a:srgbClr val="000000"/>
                </a:solidFill>
              </a:rPr>
              <a:t>Emotions influence time spent (Sadness, Anxiety, Happiness shift baseline differently). This reflects behavioral differences in emotional states.</a:t>
            </a:r>
            <a:endParaRPr b="1" sz="1400">
              <a:solidFill>
                <a:srgbClr val="0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Predictions</a:t>
            </a:r>
            <a:endParaRPr/>
          </a:p>
        </p:txBody>
      </p:sp>
      <p:sp>
        <p:nvSpPr>
          <p:cNvPr id="238" name="Google Shape;238;p27"/>
          <p:cNvSpPr txBox="1"/>
          <p:nvPr>
            <p:ph idx="1" type="body"/>
          </p:nvPr>
        </p:nvSpPr>
        <p:spPr>
          <a:xfrm>
            <a:off x="819150" y="149077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t>Emotion Comparison:</a:t>
            </a:r>
            <a:endParaRPr sz="1500"/>
          </a:p>
          <a:p>
            <a:pPr indent="-323850" lvl="0" marL="457200" rtl="0" algn="l">
              <a:spcBef>
                <a:spcPts val="1200"/>
              </a:spcBef>
              <a:spcAft>
                <a:spcPts val="0"/>
              </a:spcAft>
              <a:buSzPts val="1500"/>
              <a:buChar char="●"/>
            </a:pPr>
            <a:r>
              <a:rPr lang="en" sz="1500"/>
              <a:t>For a Male on Instagram, while keeping every other variable constant, moving from Sadness to Happiness increases predicted usage from about 102 minutes to 110. </a:t>
            </a:r>
            <a:endParaRPr sz="1500"/>
          </a:p>
          <a:p>
            <a:pPr indent="0" lvl="0" marL="0" rtl="0" algn="l">
              <a:spcBef>
                <a:spcPts val="1200"/>
              </a:spcBef>
              <a:spcAft>
                <a:spcPts val="0"/>
              </a:spcAft>
              <a:buNone/>
            </a:pPr>
            <a:r>
              <a:rPr lang="en" sz="1500"/>
              <a:t>Platform Comparison:</a:t>
            </a:r>
            <a:endParaRPr sz="1500"/>
          </a:p>
          <a:p>
            <a:pPr indent="-323850" lvl="0" marL="457200" rtl="0" algn="l">
              <a:spcBef>
                <a:spcPts val="1200"/>
              </a:spcBef>
              <a:spcAft>
                <a:spcPts val="0"/>
              </a:spcAft>
              <a:buSzPts val="1500"/>
              <a:buChar char="●"/>
            </a:pPr>
            <a:r>
              <a:rPr lang="en" sz="1500"/>
              <a:t>For a Female with Neutral as their dominant emotion, while keeping every other variable constant, switching from Instagram to Snapchat reduced predicted usage from about 108 minutes to 99. </a:t>
            </a:r>
            <a:endParaRPr sz="15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Conclusion – Were we Successful?</a:t>
            </a:r>
            <a:endParaRPr/>
          </a:p>
        </p:txBody>
      </p:sp>
      <p:sp>
        <p:nvSpPr>
          <p:cNvPr id="244" name="Google Shape;244;p28"/>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Overall success. We were able to build a mixed-effects model that reliably explains variation in daily social media usage. We Found:</a:t>
            </a:r>
            <a:endParaRPr/>
          </a:p>
          <a:p>
            <a:pPr indent="-311150" lvl="0" marL="457200" rtl="0" algn="l">
              <a:spcBef>
                <a:spcPts val="1200"/>
              </a:spcBef>
              <a:spcAft>
                <a:spcPts val="0"/>
              </a:spcAft>
              <a:buSzPts val="1300"/>
              <a:buChar char="●"/>
            </a:pPr>
            <a:r>
              <a:rPr lang="en"/>
              <a:t>Engagement methods strongly predicted screen time</a:t>
            </a:r>
            <a:endParaRPr/>
          </a:p>
          <a:p>
            <a:pPr indent="-311150" lvl="0" marL="457200" rtl="0" algn="l">
              <a:spcBef>
                <a:spcPts val="0"/>
              </a:spcBef>
              <a:spcAft>
                <a:spcPts val="0"/>
              </a:spcAft>
              <a:buSzPts val="1300"/>
              <a:buChar char="●"/>
            </a:pPr>
            <a:r>
              <a:rPr lang="en"/>
              <a:t>Platform and Emotion produce significant random variation</a:t>
            </a:r>
            <a:endParaRPr/>
          </a:p>
          <a:p>
            <a:pPr indent="-311150" lvl="0" marL="457200" rtl="0" algn="l">
              <a:spcBef>
                <a:spcPts val="0"/>
              </a:spcBef>
              <a:spcAft>
                <a:spcPts val="0"/>
              </a:spcAft>
              <a:buSzPts val="1300"/>
              <a:buChar char="●"/>
            </a:pPr>
            <a:r>
              <a:rPr lang="en"/>
              <a:t>Gender differences also matter.</a:t>
            </a:r>
            <a:endParaRPr/>
          </a:p>
          <a:p>
            <a:pPr indent="0" lvl="0" marL="0" rtl="0" algn="l">
              <a:spcBef>
                <a:spcPts val="1200"/>
              </a:spcBef>
              <a:spcAft>
                <a:spcPts val="1200"/>
              </a:spcAft>
              <a:buNone/>
            </a:pPr>
            <a:r>
              <a:rPr lang="en"/>
              <a:t>Future applications could include sharing this information with parents, guardians, or perhaps teachers. But likely the people who would like the data the most would be the social media platforms themselves to better train their algorithms.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9"/>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7000"/>
              <a:t>Thank You!</a:t>
            </a:r>
            <a:endParaRPr sz="7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